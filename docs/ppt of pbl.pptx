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9144000"/>
  <p:embeddedFontLst>
    <p:embeddedFont>
      <p:font typeface="Play"/>
      <p:regular r:id="rId19"/>
      <p:bold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j5cccY9/D0zUcD8XuyrWUPx4wVA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B43A965-F399-4383-AE49-2B8317F95B1C}">
  <a:tblStyle styleId="{FB43A965-F399-4383-AE49-2B8317F95B1C}" styleName="Table_0">
    <a:wholeTbl>
      <a:tcTxStyle b="off" i="off">
        <a:font>
          <a:latin typeface="Aptos"/>
          <a:ea typeface="Aptos"/>
          <a:cs typeface="Aptos"/>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9EC"/>
          </a:solidFill>
        </a:fill>
      </a:tcStyle>
    </a:wholeTbl>
    <a:band1H>
      <a:tcTxStyle b="off" i="off"/>
      <a:tcStyle>
        <a:fill>
          <a:solidFill>
            <a:srgbClr val="CAD1D8"/>
          </a:solidFill>
        </a:fill>
      </a:tcStyle>
    </a:band1H>
    <a:band2H>
      <a:tcTxStyle b="off" i="off"/>
    </a:band2H>
    <a:band1V>
      <a:tcTxStyle b="off" i="off"/>
      <a:tcStyle>
        <a:fill>
          <a:solidFill>
            <a:srgbClr val="CAD1D8"/>
          </a:solidFill>
        </a:fill>
      </a:tcStyle>
    </a:band1V>
    <a:band2V>
      <a:tcTxStyle b="off" i="off"/>
    </a:band2V>
    <a:lastCol>
      <a:tcTxStyle b="on" i="off">
        <a:font>
          <a:latin typeface="Aptos"/>
          <a:ea typeface="Aptos"/>
          <a:cs typeface="Aptos"/>
        </a:font>
        <a:schemeClr val="lt1"/>
      </a:tcTxStyle>
      <a:tcStyle>
        <a:fill>
          <a:solidFill>
            <a:schemeClr val="accent1"/>
          </a:solidFill>
        </a:fill>
      </a:tcStyle>
    </a:lastCol>
    <a:firstCol>
      <a:tcTxStyle b="on" i="off">
        <a:font>
          <a:latin typeface="Aptos"/>
          <a:ea typeface="Aptos"/>
          <a:cs typeface="Aptos"/>
        </a:font>
        <a:schemeClr val="lt1"/>
      </a:tcTxStyle>
      <a:tcStyle>
        <a:fill>
          <a:solidFill>
            <a:schemeClr val="accent1"/>
          </a:solidFill>
        </a:fill>
      </a:tcStyle>
    </a:firstCol>
    <a:lastRow>
      <a:tcTxStyle b="on" i="off">
        <a:font>
          <a:latin typeface="Aptos"/>
          <a:ea typeface="Aptos"/>
          <a:cs typeface="Aptos"/>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ptos"/>
          <a:ea typeface="Aptos"/>
          <a:cs typeface="Aptos"/>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B6BA4AF4-3473-4C0F-B50B-D12182328908}"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Play-bold.fntdata"/><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Play-regular.fnt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e10f7ea367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e10f7ea367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e10f7ea367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e10f7ea367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9" name="Google Shape;10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 name="Google Shape;11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e0dbe920a1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1" name="Google Shape;121;g3e0dbe920a1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e0dbe920a1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g3e0dbe920a1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e10f7ea367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e10f7ea36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0" name="Google Shape;14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0dbe920a1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6" name="Google Shape;146;g3e0dbe920a1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e0dbe920a1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2" name="Google Shape;152;g3e0dbe920a1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e11958f71e_2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e11958f71e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 name="Shape 23"/>
        <p:cNvGrpSpPr/>
        <p:nvPr/>
      </p:nvGrpSpPr>
      <p:grpSpPr>
        <a:xfrm>
          <a:off x="0" y="0"/>
          <a:ext cx="0" cy="0"/>
          <a:chOff x="0" y="0"/>
          <a:chExt cx="0" cy="0"/>
        </a:xfrm>
      </p:grpSpPr>
      <p:sp>
        <p:nvSpPr>
          <p:cNvPr id="24" name="Google Shape;24;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9"/>
          <p:cNvSpPr/>
          <p:nvPr>
            <p:ph idx="2" type="pic"/>
          </p:nvPr>
        </p:nvSpPr>
        <p:spPr>
          <a:xfrm>
            <a:off x="5183188" y="987425"/>
            <a:ext cx="6172200" cy="4873625"/>
          </a:xfrm>
          <a:prstGeom prst="rect">
            <a:avLst/>
          </a:prstGeom>
          <a:noFill/>
          <a:ln>
            <a:noFill/>
          </a:ln>
        </p:spPr>
      </p:sp>
      <p:sp>
        <p:nvSpPr>
          <p:cNvPr id="64" name="Google Shape;64;p1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9" name="Google Shape;9;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0" name="Google Shape;10;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github.com/hemanthmedu/FIR-based-FPGA-Filters-.git"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440271"/>
            <a:ext cx="9144000" cy="766762"/>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Play"/>
              <a:buNone/>
            </a:pPr>
            <a:r>
              <a:rPr b="1" lang="en-IN" sz="3600"/>
              <a:t>PBL Secondary Research </a:t>
            </a:r>
            <a:endParaRPr/>
          </a:p>
        </p:txBody>
      </p:sp>
      <p:sp>
        <p:nvSpPr>
          <p:cNvPr id="85" name="Google Shape;85;p1"/>
          <p:cNvSpPr txBox="1"/>
          <p:nvPr>
            <p:ph idx="1" type="subTitle"/>
          </p:nvPr>
        </p:nvSpPr>
        <p:spPr>
          <a:xfrm>
            <a:off x="1605279" y="1890717"/>
            <a:ext cx="9144000" cy="14835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2400"/>
              <a:buNone/>
            </a:pPr>
            <a:r>
              <a:rPr b="1" lang="en-IN"/>
              <a:t>DDHDL Verilog</a:t>
            </a:r>
            <a:r>
              <a:rPr b="1" lang="en-IN"/>
              <a:t>– 22ECE42</a:t>
            </a:r>
            <a:endParaRPr/>
          </a:p>
          <a:p>
            <a:pPr indent="0" lvl="0" marL="0" rtl="0" algn="ctr">
              <a:lnSpc>
                <a:spcPct val="90000"/>
              </a:lnSpc>
              <a:spcBef>
                <a:spcPts val="1000"/>
              </a:spcBef>
              <a:spcAft>
                <a:spcPts val="0"/>
              </a:spcAft>
              <a:buClr>
                <a:schemeClr val="dk1"/>
              </a:buClr>
              <a:buSzPts val="2400"/>
              <a:buNone/>
            </a:pPr>
            <a:r>
              <a:rPr b="1" lang="en-IN"/>
              <a:t>IV Sem – Section  A</a:t>
            </a:r>
            <a:endParaRPr/>
          </a:p>
          <a:p>
            <a:pPr indent="0" lvl="0" marL="0" rtl="0" algn="ctr">
              <a:lnSpc>
                <a:spcPct val="90000"/>
              </a:lnSpc>
              <a:spcBef>
                <a:spcPts val="1000"/>
              </a:spcBef>
              <a:spcAft>
                <a:spcPts val="0"/>
              </a:spcAft>
              <a:buClr>
                <a:schemeClr val="dk1"/>
              </a:buClr>
              <a:buSzPts val="2400"/>
              <a:buNone/>
            </a:pPr>
            <a:r>
              <a:rPr b="1" lang="en-IN"/>
              <a:t>Department of Electronics and Communications Engineering </a:t>
            </a:r>
            <a:endParaRPr/>
          </a:p>
          <a:p>
            <a:pPr indent="0" lvl="0" marL="0" rtl="0" algn="ctr">
              <a:lnSpc>
                <a:spcPct val="90000"/>
              </a:lnSpc>
              <a:spcBef>
                <a:spcPts val="1000"/>
              </a:spcBef>
              <a:spcAft>
                <a:spcPts val="0"/>
              </a:spcAft>
              <a:buClr>
                <a:schemeClr val="dk1"/>
              </a:buClr>
              <a:buSzPts val="2400"/>
              <a:buNone/>
            </a:pPr>
            <a:r>
              <a:rPr b="1" lang="en-IN"/>
              <a:t> </a:t>
            </a:r>
            <a:endParaRPr/>
          </a:p>
        </p:txBody>
      </p:sp>
      <p:pic>
        <p:nvPicPr>
          <p:cNvPr descr="A logo with a statue of a person holding flowers&#10;&#10;AI-generated content may be incorrect." id="86" name="Google Shape;86;p1"/>
          <p:cNvPicPr preferRelativeResize="0"/>
          <p:nvPr/>
        </p:nvPicPr>
        <p:blipFill rotWithShape="1">
          <a:blip r:embed="rId3">
            <a:alphaModFix/>
          </a:blip>
          <a:srcRect b="0" l="0" r="0" t="0"/>
          <a:stretch/>
        </p:blipFill>
        <p:spPr>
          <a:xfrm>
            <a:off x="412438" y="440281"/>
            <a:ext cx="1628342" cy="1483600"/>
          </a:xfrm>
          <a:prstGeom prst="rect">
            <a:avLst/>
          </a:prstGeom>
          <a:noFill/>
          <a:ln>
            <a:noFill/>
          </a:ln>
        </p:spPr>
      </p:pic>
      <p:graphicFrame>
        <p:nvGraphicFramePr>
          <p:cNvPr id="87" name="Google Shape;87;p1"/>
          <p:cNvGraphicFramePr/>
          <p:nvPr/>
        </p:nvGraphicFramePr>
        <p:xfrm>
          <a:off x="2113280" y="3850396"/>
          <a:ext cx="3000000" cy="3000000"/>
        </p:xfrm>
        <a:graphic>
          <a:graphicData uri="http://schemas.openxmlformats.org/drawingml/2006/table">
            <a:tbl>
              <a:tblPr bandRow="1" firstRow="1">
                <a:noFill/>
                <a:tableStyleId>{FB43A965-F399-4383-AE49-2B8317F95B1C}</a:tableStyleId>
              </a:tblPr>
              <a:tblGrid>
                <a:gridCol w="1097275"/>
                <a:gridCol w="2184400"/>
                <a:gridCol w="4846325"/>
              </a:tblGrid>
              <a:tr h="403650">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t>Sl No.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t>USN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t>Name</a:t>
                      </a:r>
                      <a:endParaRPr sz="1400" u="none" cap="none" strike="noStrike"/>
                    </a:p>
                  </a:txBody>
                  <a:tcPr marT="45725" marB="45725" marR="91450" marL="91450"/>
                </a:tc>
              </a:tr>
              <a:tr h="403650">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t>1.</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t>4SO24</a:t>
                      </a:r>
                      <a:r>
                        <a:rPr lang="en-IN" sz="1800"/>
                        <a:t>EC042</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IN" sz="1800"/>
                        <a:t>Hemanth Medu</a:t>
                      </a:r>
                      <a:endParaRPr sz="1800" u="none" cap="none" strike="noStrike"/>
                    </a:p>
                  </a:txBody>
                  <a:tcPr marT="45725" marB="45725" marR="91450" marL="91450"/>
                </a:tc>
              </a:tr>
              <a:tr h="403650">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t>2.</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Arial"/>
                        <a:buNone/>
                      </a:pPr>
                      <a:r>
                        <a:rPr lang="en-IN" sz="1800" u="none" cap="none" strike="noStrike"/>
                        <a:t>4SO24</a:t>
                      </a:r>
                      <a:r>
                        <a:rPr lang="en-IN" sz="1800"/>
                        <a:t>EC033</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IN" sz="1800"/>
                        <a:t>Ethan Ranger</a:t>
                      </a:r>
                      <a:endParaRPr sz="1800" u="none" cap="none" strike="noStrike"/>
                    </a:p>
                  </a:txBody>
                  <a:tcPr marT="45725" marB="45725" marR="91450" marL="91450"/>
                </a:tc>
              </a:tr>
              <a:tr h="403650">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t>3.</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Arial"/>
                        <a:buNone/>
                      </a:pPr>
                      <a:r>
                        <a:rPr lang="en-IN" sz="1800" u="none" cap="none" strike="noStrike"/>
                        <a:t>4SO24</a:t>
                      </a:r>
                      <a:r>
                        <a:rPr lang="en-IN" sz="1800"/>
                        <a:t>EC030</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IN" sz="1800"/>
                        <a:t>Dhathri PG</a:t>
                      </a:r>
                      <a:endParaRPr sz="1800" u="none" cap="none" strike="noStrike"/>
                    </a:p>
                  </a:txBody>
                  <a:tcPr marT="45725" marB="45725" marR="91450" marL="91450"/>
                </a:tc>
              </a:tr>
              <a:tr h="403650">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t>4.</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Arial"/>
                        <a:buNone/>
                      </a:pPr>
                      <a:r>
                        <a:rPr lang="en-IN" sz="1800" u="none" cap="none" strike="noStrike"/>
                        <a:t>4SO24</a:t>
                      </a:r>
                      <a:r>
                        <a:rPr lang="en-IN" sz="1800"/>
                        <a:t>EC029</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IN" sz="1800"/>
                        <a:t>Deeksha K</a:t>
                      </a:r>
                      <a:endParaRPr sz="1800" u="none" cap="none" strike="noStrike"/>
                    </a:p>
                  </a:txBody>
                  <a:tcPr marT="45725" marB="45725" marR="91450" marL="91450"/>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
          <p:cNvSpPr/>
          <p:nvPr/>
        </p:nvSpPr>
        <p:spPr>
          <a:xfrm>
            <a:off x="377077" y="1502700"/>
            <a:ext cx="11312100" cy="53553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1200"/>
              </a:spcBef>
              <a:spcAft>
                <a:spcPts val="0"/>
              </a:spcAft>
              <a:buClr>
                <a:srgbClr val="000000"/>
              </a:buClr>
              <a:buSzPts val="1650"/>
              <a:buFont typeface="Arial"/>
              <a:buNone/>
            </a:pPr>
            <a:r>
              <a:rPr b="1" lang="en-IN" sz="2550">
                <a:solidFill>
                  <a:schemeClr val="dk1"/>
                </a:solidFill>
              </a:rPr>
              <a:t>Statement:</a:t>
            </a:r>
            <a:endParaRPr b="1" sz="2550">
              <a:solidFill>
                <a:schemeClr val="dk1"/>
              </a:solidFill>
            </a:endParaRPr>
          </a:p>
          <a:p>
            <a:pPr indent="457200" lvl="0" marL="0" marR="0" rtl="0" algn="l">
              <a:lnSpc>
                <a:spcPct val="100000"/>
              </a:lnSpc>
              <a:spcBef>
                <a:spcPts val="1200"/>
              </a:spcBef>
              <a:spcAft>
                <a:spcPts val="0"/>
              </a:spcAft>
              <a:buClr>
                <a:srgbClr val="000000"/>
              </a:buClr>
              <a:buSzPts val="1650"/>
              <a:buFont typeface="Arial"/>
              <a:buNone/>
            </a:pPr>
            <a:r>
              <a:rPr lang="en-IN" sz="2350">
                <a:solidFill>
                  <a:schemeClr val="dk1"/>
                </a:solidFill>
              </a:rPr>
              <a:t>Real-time biomedical and environmental monitoring systems require efficient digital signal processing. Software-based FIR filtering can  introduce latency and increased power consumption in wearable and IoT devices. Design and implement an FPGA-based hardware system capable of performing real-time digital filtering for streaming input data.</a:t>
            </a:r>
            <a:endParaRPr sz="2350">
              <a:solidFill>
                <a:schemeClr val="dk1"/>
              </a:solidFill>
            </a:endParaRPr>
          </a:p>
          <a:p>
            <a:pPr indent="0" lvl="0" marL="0" marR="0" rtl="0" algn="l">
              <a:lnSpc>
                <a:spcPct val="100000"/>
              </a:lnSpc>
              <a:spcBef>
                <a:spcPts val="1200"/>
              </a:spcBef>
              <a:spcAft>
                <a:spcPts val="0"/>
              </a:spcAft>
              <a:buClr>
                <a:srgbClr val="000000"/>
              </a:buClr>
              <a:buSzPts val="1650"/>
              <a:buFont typeface="Arial"/>
              <a:buNone/>
            </a:pPr>
            <a:r>
              <a:t/>
            </a:r>
            <a:endParaRPr sz="2350">
              <a:solidFill>
                <a:schemeClr val="dk1"/>
              </a:solidFill>
            </a:endParaRPr>
          </a:p>
        </p:txBody>
      </p:sp>
      <p:sp>
        <p:nvSpPr>
          <p:cNvPr id="93" name="Google Shape;93;p2"/>
          <p:cNvSpPr txBox="1"/>
          <p:nvPr/>
        </p:nvSpPr>
        <p:spPr>
          <a:xfrm>
            <a:off x="377077" y="269600"/>
            <a:ext cx="11312100" cy="100290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3200"/>
              <a:buFont typeface="Times New Roman"/>
              <a:buNone/>
            </a:pPr>
            <a:r>
              <a:rPr b="1" i="0" lang="en-IN" sz="3200" u="none" cap="none" strike="noStrike">
                <a:solidFill>
                  <a:schemeClr val="dk1"/>
                </a:solidFill>
                <a:latin typeface="Times New Roman"/>
                <a:ea typeface="Times New Roman"/>
                <a:cs typeface="Times New Roman"/>
                <a:sym typeface="Times New Roman"/>
              </a:rPr>
              <a:t>Problem Statement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g3e10f7ea367_0_3"/>
          <p:cNvSpPr txBox="1"/>
          <p:nvPr>
            <p:ph type="title"/>
          </p:nvPr>
        </p:nvSpPr>
        <p:spPr>
          <a:xfrm>
            <a:off x="838200" y="17150"/>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IN" sz="3200"/>
              <a:t>Objectives</a:t>
            </a:r>
            <a:endParaRPr sz="3200"/>
          </a:p>
        </p:txBody>
      </p:sp>
      <p:sp>
        <p:nvSpPr>
          <p:cNvPr id="99" name="Google Shape;99;g3e10f7ea367_0_3"/>
          <p:cNvSpPr txBox="1"/>
          <p:nvPr>
            <p:ph idx="1" type="body"/>
          </p:nvPr>
        </p:nvSpPr>
        <p:spPr>
          <a:xfrm>
            <a:off x="838200" y="1064220"/>
            <a:ext cx="10617000" cy="5393700"/>
          </a:xfrm>
          <a:prstGeom prst="rect">
            <a:avLst/>
          </a:prstGeom>
        </p:spPr>
        <p:txBody>
          <a:bodyPr anchorCtr="0" anchor="t" bIns="45700" lIns="91425" spcFirstLastPara="1" rIns="91425" wrap="square" tIns="45700">
            <a:noAutofit/>
          </a:bodyPr>
          <a:lstStyle/>
          <a:p>
            <a:pPr indent="0" lvl="0" marL="0" rtl="0" algn="l">
              <a:lnSpc>
                <a:spcPct val="115000"/>
              </a:lnSpc>
              <a:spcBef>
                <a:spcPts val="1000"/>
              </a:spcBef>
              <a:spcAft>
                <a:spcPts val="0"/>
              </a:spcAft>
              <a:buClr>
                <a:schemeClr val="dk1"/>
              </a:buClr>
              <a:buSzPts val="275"/>
              <a:buFont typeface="Arial"/>
              <a:buNone/>
            </a:pPr>
            <a:r>
              <a:rPr lang="en-IN" sz="1600"/>
              <a:t>T</a:t>
            </a:r>
            <a:r>
              <a:rPr lang="en-IN" sz="1893"/>
              <a:t>he primary objective of this project is to develop an efficient FPGA-based digital filtering system capable of processing streaming input signals in real time.The design aims to overcome the limitations of conventional software-based filtering by leveraging parallel processing and pipelined architecture to achieve  high-speed operation with minimal delay. A key goal is to implement a robust FIR filter structure using essential hardware components such as shift registers for storing past samples, coefficient ROM for predefined filter weights, multipliers for performing sample-coefficient operations, and adders for accumulating results.</a:t>
            </a:r>
            <a:endParaRPr sz="1893"/>
          </a:p>
          <a:p>
            <a:pPr indent="0" lvl="0" marL="0" rtl="0" algn="l">
              <a:lnSpc>
                <a:spcPct val="115000"/>
              </a:lnSpc>
              <a:spcBef>
                <a:spcPts val="1000"/>
              </a:spcBef>
              <a:spcAft>
                <a:spcPts val="0"/>
              </a:spcAft>
              <a:buClr>
                <a:schemeClr val="dk1"/>
              </a:buClr>
              <a:buSzPts val="275"/>
              <a:buFont typeface="Arial"/>
              <a:buNone/>
            </a:pPr>
            <a:r>
              <a:rPr lang="en-IN" sz="1893"/>
              <a:t>Another important objective is to minimize power consumption while maintaining high performance, making the system suitable for portable and battery-operated devices like wearable health monitors and remote sensing units. The project also focuses on achieving efficient resource utilization within the FPGA, ensuring that logic elements, flip-flops, and DSP blocks are optimally used. Furthermore, the design is intended to be scalable and flexible, allowing the implementation of different types of filters such as low-pass, high-pass, and notch filters based on application requirements. Ultimately, the system aims to provide accurate noise removal, improved signal quality, and reliable real-time operation for both biomedical and environmental monitoring applications.</a:t>
            </a:r>
            <a:endParaRPr sz="1893"/>
          </a:p>
          <a:p>
            <a:pPr indent="0" lvl="0" marL="0" rtl="0" algn="l">
              <a:lnSpc>
                <a:spcPct val="115000"/>
              </a:lnSpc>
              <a:spcBef>
                <a:spcPts val="1000"/>
              </a:spcBef>
              <a:spcAft>
                <a:spcPts val="0"/>
              </a:spcAft>
              <a:buSzPts val="275"/>
              <a:buNone/>
            </a:pPr>
            <a:r>
              <a:t/>
            </a:r>
            <a:endParaRPr sz="1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3e10f7ea367_0_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IN" sz="3100"/>
              <a:t>Review of existing work</a:t>
            </a:r>
            <a:endParaRPr sz="3100"/>
          </a:p>
        </p:txBody>
      </p:sp>
      <p:sp>
        <p:nvSpPr>
          <p:cNvPr id="105" name="Google Shape;105;g3e10f7ea367_0_9"/>
          <p:cNvSpPr txBox="1"/>
          <p:nvPr>
            <p:ph idx="1" type="body"/>
          </p:nvPr>
        </p:nvSpPr>
        <p:spPr>
          <a:xfrm>
            <a:off x="838200" y="1825625"/>
            <a:ext cx="5500800" cy="4351200"/>
          </a:xfrm>
          <a:prstGeom prst="rect">
            <a:avLst/>
          </a:prstGeom>
        </p:spPr>
        <p:txBody>
          <a:bodyPr anchorCtr="0" anchor="t" bIns="45700" lIns="91425" spcFirstLastPara="1" rIns="91425" wrap="square" tIns="45700">
            <a:noAutofit/>
          </a:bodyPr>
          <a:lstStyle/>
          <a:p>
            <a:pPr indent="0" lvl="0" marL="0" rtl="0" algn="l">
              <a:lnSpc>
                <a:spcPct val="115000"/>
              </a:lnSpc>
              <a:spcBef>
                <a:spcPts val="1000"/>
              </a:spcBef>
              <a:spcAft>
                <a:spcPts val="0"/>
              </a:spcAft>
              <a:buClr>
                <a:schemeClr val="dk1"/>
              </a:buClr>
              <a:buSzPts val="275"/>
              <a:buFont typeface="Arial"/>
              <a:buNone/>
            </a:pPr>
            <a:r>
              <a:rPr lang="en-IN" sz="1500"/>
              <a:t>Architecture Used:</a:t>
            </a:r>
            <a:endParaRPr sz="1500"/>
          </a:p>
          <a:p>
            <a:pPr indent="0" lvl="0" marL="0" rtl="0" algn="l">
              <a:lnSpc>
                <a:spcPct val="115000"/>
              </a:lnSpc>
              <a:spcBef>
                <a:spcPts val="1000"/>
              </a:spcBef>
              <a:spcAft>
                <a:spcPts val="0"/>
              </a:spcAft>
              <a:buClr>
                <a:schemeClr val="dk1"/>
              </a:buClr>
              <a:buSzPts val="275"/>
              <a:buFont typeface="Arial"/>
              <a:buNone/>
            </a:pPr>
            <a:r>
              <a:rPr lang="en-IN" sz="1500"/>
              <a:t>Pipelined FIR Architecture (parallel MAC structure,3 stages pipeline structure).Uses shift registers (Z−1 delays) + multiplier–adder tree</a:t>
            </a:r>
            <a:endParaRPr sz="1500"/>
          </a:p>
          <a:p>
            <a:pPr indent="0" lvl="0" marL="0" rtl="0" algn="l">
              <a:lnSpc>
                <a:spcPct val="115000"/>
              </a:lnSpc>
              <a:spcBef>
                <a:spcPts val="1000"/>
              </a:spcBef>
              <a:spcAft>
                <a:spcPts val="0"/>
              </a:spcAft>
              <a:buClr>
                <a:schemeClr val="dk1"/>
              </a:buClr>
              <a:buSzPts val="275"/>
              <a:buFont typeface="Arial"/>
              <a:buNone/>
            </a:pPr>
            <a:r>
              <a:rPr lang="en-IN" sz="1500"/>
              <a:t>Optimized with CSD/Distributed Arithmetic multipliers</a:t>
            </a:r>
            <a:endParaRPr sz="1500"/>
          </a:p>
          <a:p>
            <a:pPr indent="0" lvl="0" marL="0" rtl="0" algn="l">
              <a:lnSpc>
                <a:spcPct val="115000"/>
              </a:lnSpc>
              <a:spcBef>
                <a:spcPts val="1000"/>
              </a:spcBef>
              <a:spcAft>
                <a:spcPts val="0"/>
              </a:spcAft>
              <a:buClr>
                <a:schemeClr val="dk1"/>
              </a:buClr>
              <a:buSzPts val="275"/>
              <a:buFont typeface="Arial"/>
              <a:buNone/>
            </a:pPr>
            <a:r>
              <a:rPr lang="en-IN" sz="1500"/>
              <a:t>Throughput Achieved:</a:t>
            </a:r>
            <a:endParaRPr sz="1500"/>
          </a:p>
          <a:p>
            <a:pPr indent="0" lvl="0" marL="0" rtl="0" algn="l">
              <a:lnSpc>
                <a:spcPct val="115000"/>
              </a:lnSpc>
              <a:spcBef>
                <a:spcPts val="1000"/>
              </a:spcBef>
              <a:spcAft>
                <a:spcPts val="0"/>
              </a:spcAft>
              <a:buClr>
                <a:schemeClr val="dk1"/>
              </a:buClr>
              <a:buSzPts val="275"/>
              <a:buFont typeface="Arial"/>
              <a:buNone/>
            </a:pPr>
            <a:r>
              <a:rPr lang="en-IN" sz="1500"/>
              <a:t>High throughput due to parallel processing</a:t>
            </a:r>
            <a:endParaRPr sz="1500"/>
          </a:p>
          <a:p>
            <a:pPr indent="0" lvl="0" marL="0" rtl="0" algn="l">
              <a:lnSpc>
                <a:spcPct val="115000"/>
              </a:lnSpc>
              <a:spcBef>
                <a:spcPts val="1000"/>
              </a:spcBef>
              <a:spcAft>
                <a:spcPts val="0"/>
              </a:spcAft>
              <a:buClr>
                <a:schemeClr val="dk1"/>
              </a:buClr>
              <a:buSzPts val="275"/>
              <a:buFont typeface="Arial"/>
              <a:buNone/>
            </a:pPr>
            <a:r>
              <a:rPr lang="en-IN" sz="1500"/>
              <a:t>One output sample per clock cycle (after pipeline fill)</a:t>
            </a:r>
            <a:endParaRPr sz="1500"/>
          </a:p>
          <a:p>
            <a:pPr indent="0" lvl="0" marL="0" rtl="0" algn="l">
              <a:lnSpc>
                <a:spcPct val="115000"/>
              </a:lnSpc>
              <a:spcBef>
                <a:spcPts val="1000"/>
              </a:spcBef>
              <a:spcAft>
                <a:spcPts val="0"/>
              </a:spcAft>
              <a:buClr>
                <a:schemeClr val="dk1"/>
              </a:buClr>
              <a:buSzPts val="275"/>
              <a:buFont typeface="Arial"/>
              <a:buNone/>
            </a:pPr>
            <a:r>
              <a:rPr lang="en-IN" sz="1500"/>
              <a:t>Suitable for real-time ECG signals</a:t>
            </a:r>
            <a:endParaRPr sz="1500"/>
          </a:p>
          <a:p>
            <a:pPr indent="0" lvl="0" marL="0" rtl="0" algn="l">
              <a:lnSpc>
                <a:spcPct val="115000"/>
              </a:lnSpc>
              <a:spcBef>
                <a:spcPts val="1000"/>
              </a:spcBef>
              <a:spcAft>
                <a:spcPts val="0"/>
              </a:spcAft>
              <a:buClr>
                <a:schemeClr val="dk1"/>
              </a:buClr>
              <a:buSzPts val="275"/>
              <a:buFont typeface="Arial"/>
              <a:buNone/>
            </a:pPr>
            <a:r>
              <a:rPr lang="en-IN" sz="1500"/>
              <a:t>Resource Utilization:</a:t>
            </a:r>
            <a:endParaRPr sz="1500"/>
          </a:p>
          <a:p>
            <a:pPr indent="0" lvl="0" marL="0" rtl="0" algn="l">
              <a:lnSpc>
                <a:spcPct val="115000"/>
              </a:lnSpc>
              <a:spcBef>
                <a:spcPts val="1000"/>
              </a:spcBef>
              <a:spcAft>
                <a:spcPts val="0"/>
              </a:spcAft>
              <a:buClr>
                <a:schemeClr val="dk1"/>
              </a:buClr>
              <a:buSzPts val="275"/>
              <a:buFont typeface="Arial"/>
              <a:buNone/>
            </a:pPr>
            <a:r>
              <a:t/>
            </a:r>
            <a:endParaRPr sz="1500"/>
          </a:p>
          <a:p>
            <a:pPr indent="0" lvl="0" marL="0" rtl="0" algn="l">
              <a:lnSpc>
                <a:spcPct val="115000"/>
              </a:lnSpc>
              <a:spcBef>
                <a:spcPts val="1000"/>
              </a:spcBef>
              <a:spcAft>
                <a:spcPts val="0"/>
              </a:spcAft>
              <a:buSzPts val="275"/>
              <a:buNone/>
            </a:pPr>
            <a:r>
              <a:t/>
            </a:r>
            <a:endParaRPr sz="1500"/>
          </a:p>
        </p:txBody>
      </p:sp>
      <p:sp>
        <p:nvSpPr>
          <p:cNvPr id="106" name="Google Shape;106;g3e10f7ea367_0_9"/>
          <p:cNvSpPr txBox="1"/>
          <p:nvPr>
            <p:ph idx="1" type="body"/>
          </p:nvPr>
        </p:nvSpPr>
        <p:spPr>
          <a:xfrm>
            <a:off x="6543700" y="1825625"/>
            <a:ext cx="5500800" cy="4351200"/>
          </a:xfrm>
          <a:prstGeom prst="rect">
            <a:avLst/>
          </a:prstGeom>
        </p:spPr>
        <p:txBody>
          <a:bodyPr anchorCtr="0" anchor="t" bIns="45700" lIns="91425" spcFirstLastPara="1" rIns="91425" wrap="square" tIns="45700">
            <a:noAutofit/>
          </a:bodyPr>
          <a:lstStyle/>
          <a:p>
            <a:pPr indent="0" lvl="0" marL="0" rtl="0" algn="l">
              <a:lnSpc>
                <a:spcPct val="115000"/>
              </a:lnSpc>
              <a:spcBef>
                <a:spcPts val="1000"/>
              </a:spcBef>
              <a:spcAft>
                <a:spcPts val="0"/>
              </a:spcAft>
              <a:buSzPts val="275"/>
              <a:buNone/>
            </a:pPr>
            <a:r>
              <a:rPr lang="en-IN" sz="1500"/>
              <a:t>LUTs: Used for control logic, adders, and DA implementation</a:t>
            </a:r>
            <a:endParaRPr sz="1500"/>
          </a:p>
          <a:p>
            <a:pPr indent="0" lvl="0" marL="0" rtl="0" algn="l">
              <a:lnSpc>
                <a:spcPct val="115000"/>
              </a:lnSpc>
              <a:spcBef>
                <a:spcPts val="1000"/>
              </a:spcBef>
              <a:spcAft>
                <a:spcPts val="0"/>
              </a:spcAft>
              <a:buSzPts val="275"/>
              <a:buNone/>
            </a:pPr>
            <a:r>
              <a:rPr lang="en-IN" sz="1500"/>
              <a:t>Flip-Flops (FFs): Used in pipeline registers and shift registers</a:t>
            </a:r>
            <a:endParaRPr sz="1500"/>
          </a:p>
          <a:p>
            <a:pPr indent="0" lvl="0" marL="0" rtl="0" algn="l">
              <a:lnSpc>
                <a:spcPct val="115000"/>
              </a:lnSpc>
              <a:spcBef>
                <a:spcPts val="1000"/>
              </a:spcBef>
              <a:spcAft>
                <a:spcPts val="0"/>
              </a:spcAft>
              <a:buSzPts val="275"/>
              <a:buNone/>
            </a:pPr>
            <a:r>
              <a:rPr lang="en-IN" sz="1500"/>
              <a:t>DSP slices: Reduced usage (due to CSD/DA instead of full</a:t>
            </a:r>
            <a:endParaRPr sz="1500"/>
          </a:p>
          <a:p>
            <a:pPr indent="0" lvl="0" marL="0" rtl="0" algn="l">
              <a:lnSpc>
                <a:spcPct val="115000"/>
              </a:lnSpc>
              <a:spcBef>
                <a:spcPts val="1000"/>
              </a:spcBef>
              <a:spcAft>
                <a:spcPts val="0"/>
              </a:spcAft>
              <a:buSzPts val="275"/>
              <a:buNone/>
            </a:pPr>
            <a:r>
              <a:rPr lang="en-IN" sz="1500"/>
              <a:t>multipliers)</a:t>
            </a:r>
            <a:endParaRPr sz="1500"/>
          </a:p>
          <a:p>
            <a:pPr indent="0" lvl="0" marL="0" rtl="0" algn="l">
              <a:lnSpc>
                <a:spcPct val="115000"/>
              </a:lnSpc>
              <a:spcBef>
                <a:spcPts val="1000"/>
              </a:spcBef>
              <a:spcAft>
                <a:spcPts val="0"/>
              </a:spcAft>
              <a:buSzPts val="275"/>
              <a:buNone/>
            </a:pPr>
            <a:r>
              <a:rPr lang="en-IN" sz="1500"/>
              <a:t>Limitations:</a:t>
            </a:r>
            <a:endParaRPr sz="1500"/>
          </a:p>
          <a:p>
            <a:pPr indent="0" lvl="0" marL="0" rtl="0" algn="l">
              <a:lnSpc>
                <a:spcPct val="115000"/>
              </a:lnSpc>
              <a:spcBef>
                <a:spcPts val="1000"/>
              </a:spcBef>
              <a:spcAft>
                <a:spcPts val="0"/>
              </a:spcAft>
              <a:buSzPts val="275"/>
              <a:buNone/>
            </a:pPr>
            <a:r>
              <a:rPr lang="en-IN" sz="1500"/>
              <a:t>Fixed coefficients (no adaptive filtering)</a:t>
            </a:r>
            <a:endParaRPr sz="1500"/>
          </a:p>
          <a:p>
            <a:pPr indent="0" lvl="0" marL="0" rtl="0" algn="l">
              <a:lnSpc>
                <a:spcPct val="115000"/>
              </a:lnSpc>
              <a:spcBef>
                <a:spcPts val="1000"/>
              </a:spcBef>
              <a:spcAft>
                <a:spcPts val="0"/>
              </a:spcAft>
              <a:buSzPts val="275"/>
              <a:buNone/>
            </a:pPr>
            <a:r>
              <a:rPr lang="en-IN" sz="1500"/>
              <a:t>No input buffering (timing mismatch possible)</a:t>
            </a:r>
            <a:endParaRPr sz="1500"/>
          </a:p>
          <a:p>
            <a:pPr indent="0" lvl="0" marL="0" rtl="0" algn="l">
              <a:lnSpc>
                <a:spcPct val="115000"/>
              </a:lnSpc>
              <a:spcBef>
                <a:spcPts val="1000"/>
              </a:spcBef>
              <a:spcAft>
                <a:spcPts val="0"/>
              </a:spcAft>
              <a:buSzPts val="275"/>
              <a:buNone/>
            </a:pPr>
            <a:r>
              <a:rPr lang="en-IN" sz="1500"/>
              <a:t>Moderate area usage due to multiple registers</a:t>
            </a:r>
            <a:endParaRPr sz="1500"/>
          </a:p>
          <a:p>
            <a:pPr indent="0" lvl="0" marL="0" rtl="0" algn="l">
              <a:lnSpc>
                <a:spcPct val="115000"/>
              </a:lnSpc>
              <a:spcBef>
                <a:spcPts val="1000"/>
              </a:spcBef>
              <a:spcAft>
                <a:spcPts val="0"/>
              </a:spcAft>
              <a:buSzPts val="275"/>
              <a:buNone/>
            </a:pPr>
            <a:r>
              <a:rPr lang="en-IN" sz="1500"/>
              <a:t>Power optimization not considered</a:t>
            </a:r>
            <a:endParaRPr sz="1500"/>
          </a:p>
          <a:p>
            <a:pPr indent="0" lvl="0" marL="0" rtl="0" algn="l">
              <a:lnSpc>
                <a:spcPct val="115000"/>
              </a:lnSpc>
              <a:spcBef>
                <a:spcPts val="1000"/>
              </a:spcBef>
              <a:spcAft>
                <a:spcPts val="0"/>
              </a:spcAft>
              <a:buSzPts val="275"/>
              <a:buNone/>
            </a:pPr>
            <a:r>
              <a:rPr lang="en-IN" sz="1500"/>
              <a:t>Limited noise/artifact handling for real ECG signals</a:t>
            </a:r>
            <a:endParaRPr sz="1500"/>
          </a:p>
          <a:p>
            <a:pPr indent="0" lvl="0" marL="0" rtl="0" algn="l">
              <a:lnSpc>
                <a:spcPct val="115000"/>
              </a:lnSpc>
              <a:spcBef>
                <a:spcPts val="1000"/>
              </a:spcBef>
              <a:spcAft>
                <a:spcPts val="0"/>
              </a:spcAft>
              <a:buSzPts val="275"/>
              <a:buNone/>
            </a:pPr>
            <a:r>
              <a:t/>
            </a:r>
            <a:endParaRPr sz="1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4"/>
          <p:cNvSpPr txBox="1"/>
          <p:nvPr>
            <p:ph type="title"/>
          </p:nvPr>
        </p:nvSpPr>
        <p:spPr>
          <a:xfrm>
            <a:off x="232430" y="310802"/>
            <a:ext cx="10515600" cy="630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960"/>
              <a:buFont typeface="Play"/>
              <a:buNone/>
            </a:pPr>
            <a:r>
              <a:rPr lang="en-IN" sz="3050"/>
              <a:t>Timeline</a:t>
            </a:r>
            <a:endParaRPr sz="3050"/>
          </a:p>
        </p:txBody>
      </p:sp>
      <p:graphicFrame>
        <p:nvGraphicFramePr>
          <p:cNvPr id="112" name="Google Shape;112;p4"/>
          <p:cNvGraphicFramePr/>
          <p:nvPr/>
        </p:nvGraphicFramePr>
        <p:xfrm>
          <a:off x="232400" y="1604550"/>
          <a:ext cx="3000000" cy="3000000"/>
        </p:xfrm>
        <a:graphic>
          <a:graphicData uri="http://schemas.openxmlformats.org/drawingml/2006/table">
            <a:tbl>
              <a:tblPr>
                <a:noFill/>
                <a:tableStyleId>{B6BA4AF4-3473-4C0F-B50B-D12182328908}</a:tableStyleId>
              </a:tblPr>
              <a:tblGrid>
                <a:gridCol w="5771775"/>
                <a:gridCol w="5771775"/>
              </a:tblGrid>
              <a:tr h="705750">
                <a:tc>
                  <a:txBody>
                    <a:bodyPr/>
                    <a:lstStyle/>
                    <a:p>
                      <a:pPr indent="0" lvl="0" marL="0" rtl="0" algn="l">
                        <a:spcBef>
                          <a:spcPts val="0"/>
                        </a:spcBef>
                        <a:spcAft>
                          <a:spcPts val="0"/>
                        </a:spcAft>
                        <a:buNone/>
                      </a:pPr>
                      <a:r>
                        <a:rPr b="1" lang="en-IN" sz="2100"/>
                        <a:t>Timeline</a:t>
                      </a:r>
                      <a:endParaRPr b="1" sz="2100"/>
                    </a:p>
                  </a:txBody>
                  <a:tcPr marT="91425" marB="91425" marR="91425" marL="91425">
                    <a:solidFill>
                      <a:schemeClr val="lt2"/>
                    </a:solidFill>
                  </a:tcPr>
                </a:tc>
                <a:tc>
                  <a:txBody>
                    <a:bodyPr/>
                    <a:lstStyle/>
                    <a:p>
                      <a:pPr indent="0" lvl="0" marL="0" rtl="0" algn="l">
                        <a:spcBef>
                          <a:spcPts val="0"/>
                        </a:spcBef>
                        <a:spcAft>
                          <a:spcPts val="0"/>
                        </a:spcAft>
                        <a:buNone/>
                      </a:pPr>
                      <a:r>
                        <a:rPr b="1" lang="en-IN" sz="2100"/>
                        <a:t>Work Type</a:t>
                      </a:r>
                      <a:endParaRPr b="1" sz="2100"/>
                    </a:p>
                  </a:txBody>
                  <a:tcPr marT="91425" marB="91425" marR="91425" marL="91425">
                    <a:solidFill>
                      <a:schemeClr val="lt2"/>
                    </a:solidFill>
                  </a:tcPr>
                </a:tc>
              </a:tr>
              <a:tr h="678675">
                <a:tc>
                  <a:txBody>
                    <a:bodyPr/>
                    <a:lstStyle/>
                    <a:p>
                      <a:pPr indent="0" lvl="0" marL="0" rtl="0" algn="l">
                        <a:spcBef>
                          <a:spcPts val="0"/>
                        </a:spcBef>
                        <a:spcAft>
                          <a:spcPts val="0"/>
                        </a:spcAft>
                        <a:buNone/>
                      </a:pPr>
                      <a:r>
                        <a:rPr lang="en-IN" sz="2100"/>
                        <a:t>20/03/2026 - 27/03/2026</a:t>
                      </a:r>
                      <a:endParaRPr sz="2100"/>
                    </a:p>
                  </a:txBody>
                  <a:tcPr marT="91425" marB="91425" marR="91425" marL="91425"/>
                </a:tc>
                <a:tc>
                  <a:txBody>
                    <a:bodyPr/>
                    <a:lstStyle/>
                    <a:p>
                      <a:pPr indent="0" lvl="0" marL="0" rtl="0" algn="l">
                        <a:spcBef>
                          <a:spcPts val="0"/>
                        </a:spcBef>
                        <a:spcAft>
                          <a:spcPts val="0"/>
                        </a:spcAft>
                        <a:buNone/>
                      </a:pPr>
                      <a:r>
                        <a:rPr lang="en-IN" sz="2100"/>
                        <a:t>Referring research papers</a:t>
                      </a:r>
                      <a:endParaRPr sz="2100"/>
                    </a:p>
                  </a:txBody>
                  <a:tcPr marT="91425" marB="91425" marR="91425" marL="91425"/>
                </a:tc>
              </a:tr>
              <a:tr h="678675">
                <a:tc>
                  <a:txBody>
                    <a:bodyPr/>
                    <a:lstStyle/>
                    <a:p>
                      <a:pPr indent="0" lvl="0" marL="0" rtl="0" algn="l">
                        <a:spcBef>
                          <a:spcPts val="0"/>
                        </a:spcBef>
                        <a:spcAft>
                          <a:spcPts val="0"/>
                        </a:spcAft>
                        <a:buNone/>
                      </a:pPr>
                      <a:r>
                        <a:rPr lang="en-IN" sz="2100"/>
                        <a:t>27/03/2026 - 04/04/2026</a:t>
                      </a:r>
                      <a:endParaRPr sz="2100"/>
                    </a:p>
                  </a:txBody>
                  <a:tcPr marT="91425" marB="91425" marR="91425" marL="91425"/>
                </a:tc>
                <a:tc>
                  <a:txBody>
                    <a:bodyPr/>
                    <a:lstStyle/>
                    <a:p>
                      <a:pPr indent="0" lvl="0" marL="0" rtl="0" algn="l">
                        <a:spcBef>
                          <a:spcPts val="0"/>
                        </a:spcBef>
                        <a:spcAft>
                          <a:spcPts val="0"/>
                        </a:spcAft>
                        <a:buNone/>
                      </a:pPr>
                      <a:r>
                        <a:rPr lang="en-IN" sz="2100"/>
                        <a:t>Discussion</a:t>
                      </a:r>
                      <a:r>
                        <a:rPr lang="en-IN" sz="2100"/>
                        <a:t> about block and architecture diagram</a:t>
                      </a:r>
                      <a:endParaRPr sz="2100"/>
                    </a:p>
                  </a:txBody>
                  <a:tcPr marT="91425" marB="91425" marR="91425" marL="91425"/>
                </a:tc>
              </a:tr>
              <a:tr h="678675">
                <a:tc>
                  <a:txBody>
                    <a:bodyPr/>
                    <a:lstStyle/>
                    <a:p>
                      <a:pPr indent="0" lvl="0" marL="0" rtl="0" algn="l">
                        <a:spcBef>
                          <a:spcPts val="0"/>
                        </a:spcBef>
                        <a:spcAft>
                          <a:spcPts val="0"/>
                        </a:spcAft>
                        <a:buNone/>
                      </a:pPr>
                      <a:r>
                        <a:rPr lang="en-IN" sz="2100"/>
                        <a:t>05/04/2026</a:t>
                      </a:r>
                      <a:endParaRPr sz="2100"/>
                    </a:p>
                  </a:txBody>
                  <a:tcPr marT="91425" marB="91425" marR="91425" marL="91425"/>
                </a:tc>
                <a:tc>
                  <a:txBody>
                    <a:bodyPr/>
                    <a:lstStyle/>
                    <a:p>
                      <a:pPr indent="0" lvl="0" marL="0" rtl="0" algn="l">
                        <a:spcBef>
                          <a:spcPts val="0"/>
                        </a:spcBef>
                        <a:spcAft>
                          <a:spcPts val="0"/>
                        </a:spcAft>
                        <a:buNone/>
                      </a:pPr>
                      <a:r>
                        <a:rPr lang="en-IN" sz="2100"/>
                        <a:t>Finalized and block and architecture diagram</a:t>
                      </a:r>
                      <a:endParaRPr sz="2100"/>
                    </a:p>
                  </a:txBody>
                  <a:tcPr marT="91425" marB="91425" marR="91425" marL="91425"/>
                </a:tc>
              </a:tr>
              <a:tr h="678675">
                <a:tc>
                  <a:txBody>
                    <a:bodyPr/>
                    <a:lstStyle/>
                    <a:p>
                      <a:pPr indent="0" lvl="0" marL="0" rtl="0" algn="l">
                        <a:spcBef>
                          <a:spcPts val="0"/>
                        </a:spcBef>
                        <a:spcAft>
                          <a:spcPts val="0"/>
                        </a:spcAft>
                        <a:buNone/>
                      </a:pPr>
                      <a:r>
                        <a:rPr lang="en-IN" sz="2100"/>
                        <a:t>09/04/2026 - 17/04/2026</a:t>
                      </a:r>
                      <a:endParaRPr sz="2100"/>
                    </a:p>
                  </a:txBody>
                  <a:tcPr marT="91425" marB="91425" marR="91425" marL="91425"/>
                </a:tc>
                <a:tc>
                  <a:txBody>
                    <a:bodyPr/>
                    <a:lstStyle/>
                    <a:p>
                      <a:pPr indent="0" lvl="0" marL="0" rtl="0" algn="l">
                        <a:spcBef>
                          <a:spcPts val="0"/>
                        </a:spcBef>
                        <a:spcAft>
                          <a:spcPts val="0"/>
                        </a:spcAft>
                        <a:buNone/>
                      </a:pPr>
                      <a:r>
                        <a:rPr lang="en-IN" sz="2100"/>
                        <a:t>discussion</a:t>
                      </a:r>
                      <a:r>
                        <a:rPr lang="en-IN" sz="2100"/>
                        <a:t> about leaf cells </a:t>
                      </a:r>
                      <a:endParaRPr sz="2100"/>
                    </a:p>
                  </a:txBody>
                  <a:tcPr marT="91425" marB="91425" marR="91425" marL="91425"/>
                </a:tc>
              </a:tr>
              <a:tr h="678675">
                <a:tc>
                  <a:txBody>
                    <a:bodyPr/>
                    <a:lstStyle/>
                    <a:p>
                      <a:pPr indent="0" lvl="0" marL="0" rtl="0" algn="l">
                        <a:spcBef>
                          <a:spcPts val="0"/>
                        </a:spcBef>
                        <a:spcAft>
                          <a:spcPts val="0"/>
                        </a:spcAft>
                        <a:buNone/>
                      </a:pPr>
                      <a:r>
                        <a:rPr lang="en-IN" sz="2100"/>
                        <a:t>29/04/2026 - 02/05/2026</a:t>
                      </a:r>
                      <a:endParaRPr sz="2100"/>
                    </a:p>
                  </a:txBody>
                  <a:tcPr marT="91425" marB="91425" marR="91425" marL="91425"/>
                </a:tc>
                <a:tc>
                  <a:txBody>
                    <a:bodyPr/>
                    <a:lstStyle/>
                    <a:p>
                      <a:pPr indent="0" lvl="0" marL="0" rtl="0" algn="l">
                        <a:spcBef>
                          <a:spcPts val="0"/>
                        </a:spcBef>
                        <a:spcAft>
                          <a:spcPts val="0"/>
                        </a:spcAft>
                        <a:buNone/>
                      </a:pPr>
                      <a:r>
                        <a:rPr lang="en-IN" sz="2100"/>
                        <a:t>Finalized leaf cells and simulated</a:t>
                      </a:r>
                      <a:endParaRPr sz="2100"/>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6"/>
          <p:cNvSpPr txBox="1"/>
          <p:nvPr>
            <p:ph type="title"/>
          </p:nvPr>
        </p:nvSpPr>
        <p:spPr>
          <a:xfrm>
            <a:off x="238760" y="243205"/>
            <a:ext cx="10515600" cy="569595"/>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Play"/>
              <a:buNone/>
            </a:pPr>
            <a:r>
              <a:rPr lang="en-IN"/>
              <a:t>Block Diagram</a:t>
            </a:r>
            <a:endParaRPr/>
          </a:p>
        </p:txBody>
      </p:sp>
      <p:pic>
        <p:nvPicPr>
          <p:cNvPr id="118" name="Google Shape;118;p6" title="Screenshot 2026-05-01 151528.png"/>
          <p:cNvPicPr preferRelativeResize="0"/>
          <p:nvPr/>
        </p:nvPicPr>
        <p:blipFill rotWithShape="1">
          <a:blip r:embed="rId3">
            <a:alphaModFix/>
          </a:blip>
          <a:srcRect b="2790" l="1414" r="2395" t="0"/>
          <a:stretch/>
        </p:blipFill>
        <p:spPr>
          <a:xfrm>
            <a:off x="1264300" y="994200"/>
            <a:ext cx="9830299" cy="55506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g3e0dbe920a1_0_2"/>
          <p:cNvSpPr txBox="1"/>
          <p:nvPr>
            <p:ph type="title"/>
          </p:nvPr>
        </p:nvSpPr>
        <p:spPr>
          <a:xfrm>
            <a:off x="238749" y="243200"/>
            <a:ext cx="11804100" cy="5697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Play"/>
              <a:buNone/>
            </a:pPr>
            <a:r>
              <a:rPr lang="en-IN"/>
              <a:t>Architecture Diagram:(focused on notch filter)</a:t>
            </a:r>
            <a:endParaRPr/>
          </a:p>
        </p:txBody>
      </p:sp>
      <p:pic>
        <p:nvPicPr>
          <p:cNvPr id="124" name="Google Shape;124;g3e0dbe920a1_0_2"/>
          <p:cNvPicPr preferRelativeResize="0"/>
          <p:nvPr/>
        </p:nvPicPr>
        <p:blipFill rotWithShape="1">
          <a:blip r:embed="rId3">
            <a:alphaModFix/>
          </a:blip>
          <a:srcRect b="902" l="0" r="0" t="0"/>
          <a:stretch/>
        </p:blipFill>
        <p:spPr>
          <a:xfrm>
            <a:off x="745375" y="871226"/>
            <a:ext cx="10127799" cy="56883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g3e0dbe920a1_0_6"/>
          <p:cNvSpPr txBox="1"/>
          <p:nvPr>
            <p:ph type="title"/>
          </p:nvPr>
        </p:nvSpPr>
        <p:spPr>
          <a:xfrm>
            <a:off x="238760" y="243205"/>
            <a:ext cx="10515600" cy="5697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Play"/>
              <a:buNone/>
            </a:pPr>
            <a:r>
              <a:rPr lang="en-IN"/>
              <a:t>Leaf Cells:</a:t>
            </a:r>
            <a:endParaRPr/>
          </a:p>
        </p:txBody>
      </p:sp>
      <p:sp>
        <p:nvSpPr>
          <p:cNvPr id="130" name="Google Shape;130;g3e0dbe920a1_0_6"/>
          <p:cNvSpPr txBox="1"/>
          <p:nvPr/>
        </p:nvSpPr>
        <p:spPr>
          <a:xfrm>
            <a:off x="423380" y="913425"/>
            <a:ext cx="5988000" cy="566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IN" sz="1900">
                <a:solidFill>
                  <a:schemeClr val="dk1"/>
                </a:solidFill>
              </a:rPr>
              <a:t>1.Shift Register Block (Z−1 delays):</a:t>
            </a:r>
            <a:endParaRPr sz="1900">
              <a:solidFill>
                <a:schemeClr val="dk1"/>
              </a:solidFill>
            </a:endParaRPr>
          </a:p>
          <a:p>
            <a:pPr indent="457200" lvl="0" marL="0" rtl="0" algn="l">
              <a:spcBef>
                <a:spcPts val="0"/>
              </a:spcBef>
              <a:spcAft>
                <a:spcPts val="0"/>
              </a:spcAft>
              <a:buClr>
                <a:schemeClr val="dk1"/>
              </a:buClr>
              <a:buSzPts val="1100"/>
              <a:buFont typeface="Arial"/>
              <a:buNone/>
            </a:pPr>
            <a:r>
              <a:rPr lang="en-IN" sz="1900">
                <a:solidFill>
                  <a:schemeClr val="dk1"/>
                </a:solidFill>
              </a:rPr>
              <a:t>Leaf cells:</a:t>
            </a:r>
            <a:endParaRPr sz="1900">
              <a:solidFill>
                <a:schemeClr val="dk1"/>
              </a:solidFill>
            </a:endParaRPr>
          </a:p>
          <a:p>
            <a:pPr indent="0" lvl="0" marL="457200" rtl="0" algn="l">
              <a:spcBef>
                <a:spcPts val="0"/>
              </a:spcBef>
              <a:spcAft>
                <a:spcPts val="0"/>
              </a:spcAft>
              <a:buClr>
                <a:schemeClr val="dk1"/>
              </a:buClr>
              <a:buSzPts val="1100"/>
              <a:buFont typeface="Arial"/>
              <a:buNone/>
            </a:pPr>
            <a:r>
              <a:rPr lang="en-IN" sz="1900">
                <a:solidFill>
                  <a:schemeClr val="dk1"/>
                </a:solidFill>
              </a:rPr>
              <a:t>D Flip-Flops (D-FFs)</a:t>
            </a:r>
            <a:endParaRPr sz="1900">
              <a:solidFill>
                <a:schemeClr val="dk1"/>
              </a:solidFill>
            </a:endParaRPr>
          </a:p>
          <a:p>
            <a:pPr indent="0" lvl="0" marL="457200" rtl="0" algn="l">
              <a:spcBef>
                <a:spcPts val="0"/>
              </a:spcBef>
              <a:spcAft>
                <a:spcPts val="0"/>
              </a:spcAft>
              <a:buClr>
                <a:schemeClr val="dk1"/>
              </a:buClr>
              <a:buSzPts val="1100"/>
              <a:buFont typeface="Arial"/>
              <a:buNone/>
            </a:pPr>
            <a:r>
              <a:rPr lang="en-IN" sz="1900">
                <a:solidFill>
                  <a:schemeClr val="dk1"/>
                </a:solidFill>
              </a:rPr>
              <a:t>Clock buff</a:t>
            </a:r>
            <a:r>
              <a:rPr lang="en-IN" sz="1900">
                <a:solidFill>
                  <a:schemeClr val="dk1"/>
                </a:solidFill>
              </a:rPr>
              <a:t>ers</a:t>
            </a:r>
            <a:endParaRPr sz="1900">
              <a:solidFill>
                <a:schemeClr val="dk1"/>
              </a:solidFill>
            </a:endParaRPr>
          </a:p>
          <a:p>
            <a:pPr indent="0" lvl="0" marL="457200" rtl="0" algn="l">
              <a:spcBef>
                <a:spcPts val="0"/>
              </a:spcBef>
              <a:spcAft>
                <a:spcPts val="0"/>
              </a:spcAft>
              <a:buClr>
                <a:schemeClr val="dk1"/>
              </a:buClr>
              <a:buSzPts val="1100"/>
              <a:buFont typeface="Arial"/>
              <a:buNone/>
            </a:pPr>
            <a:r>
              <a:rPr lang="en-IN" sz="1900">
                <a:solidFill>
                  <a:schemeClr val="dk1"/>
                </a:solidFill>
              </a:rPr>
              <a:t>Enable logic (AND gates)</a:t>
            </a:r>
            <a:endParaRPr sz="1900">
              <a:solidFill>
                <a:schemeClr val="dk1"/>
              </a:solidFill>
            </a:endParaRPr>
          </a:p>
          <a:p>
            <a:pPr indent="0" lvl="0" marL="457200" rtl="0" algn="l">
              <a:spcBef>
                <a:spcPts val="0"/>
              </a:spcBef>
              <a:spcAft>
                <a:spcPts val="0"/>
              </a:spcAft>
              <a:buClr>
                <a:schemeClr val="dk1"/>
              </a:buClr>
              <a:buSzPts val="1100"/>
              <a:buFont typeface="Arial"/>
              <a:buNone/>
            </a:pPr>
            <a:r>
              <a:t/>
            </a:r>
            <a:endParaRPr sz="1900">
              <a:solidFill>
                <a:schemeClr val="dk1"/>
              </a:solidFill>
            </a:endParaRPr>
          </a:p>
          <a:p>
            <a:pPr indent="0" lvl="0" marL="0" rtl="0" algn="l">
              <a:spcBef>
                <a:spcPts val="0"/>
              </a:spcBef>
              <a:spcAft>
                <a:spcPts val="0"/>
              </a:spcAft>
              <a:buClr>
                <a:schemeClr val="dk1"/>
              </a:buClr>
              <a:buSzPts val="1100"/>
              <a:buFont typeface="Arial"/>
              <a:buNone/>
            </a:pPr>
            <a:r>
              <a:rPr lang="en-IN" sz="1900">
                <a:solidFill>
                  <a:schemeClr val="dk1"/>
                </a:solidFill>
              </a:rPr>
              <a:t>2. Coefficient ROM</a:t>
            </a:r>
            <a:endParaRPr sz="1900">
              <a:solidFill>
                <a:schemeClr val="dk1"/>
              </a:solidFill>
            </a:endParaRPr>
          </a:p>
          <a:p>
            <a:pPr indent="0" lvl="0" marL="457200" rtl="0" algn="l">
              <a:spcBef>
                <a:spcPts val="0"/>
              </a:spcBef>
              <a:spcAft>
                <a:spcPts val="0"/>
              </a:spcAft>
              <a:buClr>
                <a:schemeClr val="dk1"/>
              </a:buClr>
              <a:buSzPts val="1100"/>
              <a:buFont typeface="Arial"/>
              <a:buNone/>
            </a:pPr>
            <a:r>
              <a:rPr lang="en-IN" sz="1900">
                <a:solidFill>
                  <a:schemeClr val="dk1"/>
                </a:solidFill>
              </a:rPr>
              <a:t>Leaf cells:</a:t>
            </a:r>
            <a:endParaRPr sz="1900">
              <a:solidFill>
                <a:schemeClr val="dk1"/>
              </a:solidFill>
            </a:endParaRPr>
          </a:p>
          <a:p>
            <a:pPr indent="0" lvl="0" marL="457200" rtl="0" algn="l">
              <a:spcBef>
                <a:spcPts val="0"/>
              </a:spcBef>
              <a:spcAft>
                <a:spcPts val="0"/>
              </a:spcAft>
              <a:buClr>
                <a:schemeClr val="dk1"/>
              </a:buClr>
              <a:buSzPts val="1100"/>
              <a:buFont typeface="Arial"/>
              <a:buNone/>
            </a:pPr>
            <a:r>
              <a:rPr lang="en-IN" sz="1900">
                <a:solidFill>
                  <a:schemeClr val="dk1"/>
                </a:solidFill>
              </a:rPr>
              <a:t>Memory cells (ROM cells)</a:t>
            </a:r>
            <a:endParaRPr sz="1900">
              <a:solidFill>
                <a:schemeClr val="dk1"/>
              </a:solidFill>
            </a:endParaRPr>
          </a:p>
          <a:p>
            <a:pPr indent="0" lvl="0" marL="457200" rtl="0" algn="l">
              <a:spcBef>
                <a:spcPts val="0"/>
              </a:spcBef>
              <a:spcAft>
                <a:spcPts val="0"/>
              </a:spcAft>
              <a:buClr>
                <a:schemeClr val="dk1"/>
              </a:buClr>
              <a:buSzPts val="1100"/>
              <a:buFont typeface="Arial"/>
              <a:buNone/>
            </a:pPr>
            <a:r>
              <a:rPr lang="en-IN" sz="1900">
                <a:solidFill>
                  <a:schemeClr val="dk1"/>
                </a:solidFill>
              </a:rPr>
              <a:t>Address decoder</a:t>
            </a:r>
            <a:endParaRPr sz="1900">
              <a:solidFill>
                <a:schemeClr val="dk1"/>
              </a:solidFill>
            </a:endParaRPr>
          </a:p>
          <a:p>
            <a:pPr indent="0" lvl="0" marL="457200" rtl="0" algn="l">
              <a:spcBef>
                <a:spcPts val="0"/>
              </a:spcBef>
              <a:spcAft>
                <a:spcPts val="0"/>
              </a:spcAft>
              <a:buClr>
                <a:schemeClr val="dk1"/>
              </a:buClr>
              <a:buSzPts val="1100"/>
              <a:buFont typeface="Arial"/>
              <a:buNone/>
            </a:pPr>
            <a:r>
              <a:rPr lang="en-IN" sz="1900">
                <a:solidFill>
                  <a:schemeClr val="dk1"/>
                </a:solidFill>
              </a:rPr>
              <a:t>Word line &amp; bit line drivers</a:t>
            </a:r>
            <a:endParaRPr sz="1900">
              <a:solidFill>
                <a:schemeClr val="dk1"/>
              </a:solidFill>
            </a:endParaRPr>
          </a:p>
          <a:p>
            <a:pPr indent="0" lvl="0" marL="457200" rtl="0" algn="l">
              <a:spcBef>
                <a:spcPts val="0"/>
              </a:spcBef>
              <a:spcAft>
                <a:spcPts val="0"/>
              </a:spcAft>
              <a:buClr>
                <a:schemeClr val="dk1"/>
              </a:buClr>
              <a:buSzPts val="1100"/>
              <a:buFont typeface="Arial"/>
              <a:buNone/>
            </a:pPr>
            <a:r>
              <a:rPr lang="en-IN" sz="1900">
                <a:solidFill>
                  <a:schemeClr val="dk1"/>
                </a:solidFill>
              </a:rPr>
              <a:t>Sense amplifiers</a:t>
            </a:r>
            <a:endParaRPr sz="1900">
              <a:solidFill>
                <a:schemeClr val="dk1"/>
              </a:solidFill>
            </a:endParaRPr>
          </a:p>
          <a:p>
            <a:pPr indent="0" lvl="0" marL="457200" rtl="0" algn="l">
              <a:spcBef>
                <a:spcPts val="0"/>
              </a:spcBef>
              <a:spcAft>
                <a:spcPts val="0"/>
              </a:spcAft>
              <a:buClr>
                <a:schemeClr val="dk1"/>
              </a:buClr>
              <a:buSzPts val="1100"/>
              <a:buFont typeface="Arial"/>
              <a:buNone/>
            </a:pPr>
            <a:r>
              <a:t/>
            </a:r>
            <a:endParaRPr sz="1900">
              <a:solidFill>
                <a:schemeClr val="dk1"/>
              </a:solidFill>
            </a:endParaRPr>
          </a:p>
          <a:p>
            <a:pPr indent="0" lvl="0" marL="0" rtl="0" algn="l">
              <a:spcBef>
                <a:spcPts val="0"/>
              </a:spcBef>
              <a:spcAft>
                <a:spcPts val="0"/>
              </a:spcAft>
              <a:buClr>
                <a:schemeClr val="dk1"/>
              </a:buClr>
              <a:buSzPts val="1100"/>
              <a:buFont typeface="Arial"/>
              <a:buNone/>
            </a:pPr>
            <a:r>
              <a:rPr lang="en-IN" sz="1900">
                <a:solidFill>
                  <a:schemeClr val="dk1"/>
                </a:solidFill>
              </a:rPr>
              <a:t>3. Multiplier Block</a:t>
            </a:r>
            <a:endParaRPr sz="1900">
              <a:solidFill>
                <a:schemeClr val="dk1"/>
              </a:solidFill>
            </a:endParaRPr>
          </a:p>
          <a:p>
            <a:pPr indent="0" lvl="0" marL="457200" rtl="0" algn="l">
              <a:spcBef>
                <a:spcPts val="0"/>
              </a:spcBef>
              <a:spcAft>
                <a:spcPts val="0"/>
              </a:spcAft>
              <a:buClr>
                <a:schemeClr val="dk1"/>
              </a:buClr>
              <a:buSzPts val="1100"/>
              <a:buFont typeface="Arial"/>
              <a:buNone/>
            </a:pPr>
            <a:r>
              <a:rPr lang="en-IN" sz="1900">
                <a:solidFill>
                  <a:schemeClr val="dk1"/>
                </a:solidFill>
              </a:rPr>
              <a:t>Leaf cells:</a:t>
            </a:r>
            <a:endParaRPr sz="1900">
              <a:solidFill>
                <a:schemeClr val="dk1"/>
              </a:solidFill>
            </a:endParaRPr>
          </a:p>
          <a:p>
            <a:pPr indent="0" lvl="0" marL="457200" rtl="0" algn="l">
              <a:spcBef>
                <a:spcPts val="0"/>
              </a:spcBef>
              <a:spcAft>
                <a:spcPts val="0"/>
              </a:spcAft>
              <a:buClr>
                <a:schemeClr val="dk1"/>
              </a:buClr>
              <a:buSzPts val="1100"/>
              <a:buFont typeface="Arial"/>
              <a:buNone/>
            </a:pPr>
            <a:r>
              <a:rPr lang="en-IN" sz="1900">
                <a:solidFill>
                  <a:schemeClr val="dk1"/>
                </a:solidFill>
              </a:rPr>
              <a:t>AND gates (partial product generation)</a:t>
            </a:r>
            <a:endParaRPr sz="1900">
              <a:solidFill>
                <a:schemeClr val="dk1"/>
              </a:solidFill>
            </a:endParaRPr>
          </a:p>
          <a:p>
            <a:pPr indent="0" lvl="0" marL="457200" rtl="0" algn="l">
              <a:spcBef>
                <a:spcPts val="0"/>
              </a:spcBef>
              <a:spcAft>
                <a:spcPts val="0"/>
              </a:spcAft>
              <a:buClr>
                <a:schemeClr val="dk1"/>
              </a:buClr>
              <a:buSzPts val="1100"/>
              <a:buFont typeface="Arial"/>
              <a:buNone/>
            </a:pPr>
            <a:r>
              <a:rPr lang="en-IN" sz="1900">
                <a:solidFill>
                  <a:schemeClr val="dk1"/>
                </a:solidFill>
              </a:rPr>
              <a:t>Adders (Half Adder, Full Adder)</a:t>
            </a:r>
            <a:endParaRPr sz="1900">
              <a:solidFill>
                <a:schemeClr val="dk1"/>
              </a:solidFill>
            </a:endParaRPr>
          </a:p>
          <a:p>
            <a:pPr indent="0" lvl="0" marL="457200" rtl="0" algn="l">
              <a:spcBef>
                <a:spcPts val="0"/>
              </a:spcBef>
              <a:spcAft>
                <a:spcPts val="0"/>
              </a:spcAft>
              <a:buClr>
                <a:schemeClr val="dk1"/>
              </a:buClr>
              <a:buSzPts val="1100"/>
              <a:buFont typeface="Arial"/>
              <a:buNone/>
            </a:pPr>
            <a:r>
              <a:rPr lang="en-IN" sz="1900">
                <a:solidFill>
                  <a:schemeClr val="dk1"/>
                </a:solidFill>
              </a:rPr>
              <a:t>Booth encoder</a:t>
            </a:r>
            <a:endParaRPr sz="1900">
              <a:solidFill>
                <a:schemeClr val="dk1"/>
              </a:solidFill>
            </a:endParaRPr>
          </a:p>
          <a:p>
            <a:pPr indent="0" lvl="0" marL="457200" rtl="0" algn="l">
              <a:spcBef>
                <a:spcPts val="0"/>
              </a:spcBef>
              <a:spcAft>
                <a:spcPts val="0"/>
              </a:spcAft>
              <a:buClr>
                <a:schemeClr val="dk1"/>
              </a:buClr>
              <a:buSzPts val="1100"/>
              <a:buFont typeface="Arial"/>
              <a:buNone/>
            </a:pPr>
            <a:r>
              <a:rPr lang="en-IN" sz="1900">
                <a:solidFill>
                  <a:schemeClr val="dk1"/>
                </a:solidFill>
              </a:rPr>
              <a:t>Shifter</a:t>
            </a:r>
            <a:endParaRPr sz="1900">
              <a:solidFill>
                <a:schemeClr val="dk1"/>
              </a:solidFill>
            </a:endParaRPr>
          </a:p>
          <a:p>
            <a:pPr indent="0" lvl="0" marL="0" rtl="0" algn="l">
              <a:spcBef>
                <a:spcPts val="0"/>
              </a:spcBef>
              <a:spcAft>
                <a:spcPts val="0"/>
              </a:spcAft>
              <a:buClr>
                <a:schemeClr val="dk1"/>
              </a:buClr>
              <a:buSzPts val="1100"/>
              <a:buFont typeface="Arial"/>
              <a:buNone/>
            </a:pPr>
            <a:r>
              <a:t/>
            </a:r>
            <a:endParaRPr sz="1900">
              <a:solidFill>
                <a:schemeClr val="dk1"/>
              </a:solidFill>
            </a:endParaRPr>
          </a:p>
          <a:p>
            <a:pPr indent="0" lvl="0" marL="0" rtl="0" algn="l">
              <a:spcBef>
                <a:spcPts val="0"/>
              </a:spcBef>
              <a:spcAft>
                <a:spcPts val="0"/>
              </a:spcAft>
              <a:buClr>
                <a:schemeClr val="dk1"/>
              </a:buClr>
              <a:buSzPts val="1100"/>
              <a:buFont typeface="Arial"/>
              <a:buNone/>
            </a:pPr>
            <a:r>
              <a:t/>
            </a:r>
            <a:endParaRPr sz="1900">
              <a:solidFill>
                <a:schemeClr val="dk1"/>
              </a:solidFill>
            </a:endParaRPr>
          </a:p>
          <a:p>
            <a:pPr indent="0" lvl="0" marL="0" rtl="0" algn="l">
              <a:spcBef>
                <a:spcPts val="0"/>
              </a:spcBef>
              <a:spcAft>
                <a:spcPts val="0"/>
              </a:spcAft>
              <a:buClr>
                <a:schemeClr val="dk1"/>
              </a:buClr>
              <a:buSzPts val="1100"/>
              <a:buFont typeface="Arial"/>
              <a:buNone/>
            </a:pPr>
            <a:r>
              <a:t/>
            </a:r>
            <a:endParaRPr sz="1900">
              <a:solidFill>
                <a:schemeClr val="dk1"/>
              </a:solidFill>
            </a:endParaRPr>
          </a:p>
          <a:p>
            <a:pPr indent="0" lvl="0" marL="0" rtl="0" algn="l">
              <a:spcBef>
                <a:spcPts val="0"/>
              </a:spcBef>
              <a:spcAft>
                <a:spcPts val="0"/>
              </a:spcAft>
              <a:buNone/>
            </a:pPr>
            <a:r>
              <a:t/>
            </a:r>
            <a:endParaRPr sz="1900">
              <a:solidFill>
                <a:schemeClr val="dk1"/>
              </a:solidFill>
            </a:endParaRPr>
          </a:p>
        </p:txBody>
      </p:sp>
      <p:sp>
        <p:nvSpPr>
          <p:cNvPr id="131" name="Google Shape;131;g3e0dbe920a1_0_6"/>
          <p:cNvSpPr txBox="1"/>
          <p:nvPr>
            <p:ph idx="1" type="body"/>
          </p:nvPr>
        </p:nvSpPr>
        <p:spPr>
          <a:xfrm>
            <a:off x="6411380" y="1285972"/>
            <a:ext cx="5669400" cy="50400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100"/>
              <a:buFont typeface="Arial"/>
              <a:buNone/>
            </a:pPr>
            <a:r>
              <a:rPr lang="en-IN" sz="1900"/>
              <a:t>4. Adder Tree (CSA / XOR-MUX)</a:t>
            </a:r>
            <a:endParaRPr sz="1900"/>
          </a:p>
          <a:p>
            <a:pPr indent="0" lvl="0" marL="457200" rtl="0" algn="l">
              <a:lnSpc>
                <a:spcPct val="100000"/>
              </a:lnSpc>
              <a:spcBef>
                <a:spcPts val="0"/>
              </a:spcBef>
              <a:spcAft>
                <a:spcPts val="0"/>
              </a:spcAft>
              <a:buClr>
                <a:schemeClr val="dk1"/>
              </a:buClr>
              <a:buSzPts val="1100"/>
              <a:buFont typeface="Arial"/>
              <a:buNone/>
            </a:pPr>
            <a:r>
              <a:rPr lang="en-IN" sz="1900"/>
              <a:t>Leaf cells:</a:t>
            </a:r>
            <a:endParaRPr sz="1900"/>
          </a:p>
          <a:p>
            <a:pPr indent="0" lvl="0" marL="457200" rtl="0" algn="l">
              <a:lnSpc>
                <a:spcPct val="100000"/>
              </a:lnSpc>
              <a:spcBef>
                <a:spcPts val="0"/>
              </a:spcBef>
              <a:spcAft>
                <a:spcPts val="0"/>
              </a:spcAft>
              <a:buClr>
                <a:schemeClr val="dk1"/>
              </a:buClr>
              <a:buSzPts val="1100"/>
              <a:buFont typeface="Arial"/>
              <a:buNone/>
            </a:pPr>
            <a:r>
              <a:rPr lang="en-IN" sz="1900"/>
              <a:t>Full Adders (FA)</a:t>
            </a:r>
            <a:endParaRPr sz="1900"/>
          </a:p>
          <a:p>
            <a:pPr indent="0" lvl="0" marL="457200" rtl="0" algn="l">
              <a:lnSpc>
                <a:spcPct val="100000"/>
              </a:lnSpc>
              <a:spcBef>
                <a:spcPts val="0"/>
              </a:spcBef>
              <a:spcAft>
                <a:spcPts val="0"/>
              </a:spcAft>
              <a:buClr>
                <a:schemeClr val="dk1"/>
              </a:buClr>
              <a:buSzPts val="1100"/>
              <a:buFont typeface="Arial"/>
              <a:buNone/>
            </a:pPr>
            <a:r>
              <a:rPr lang="en-IN" sz="1900"/>
              <a:t>Half Adders (HA)</a:t>
            </a:r>
            <a:endParaRPr sz="1900"/>
          </a:p>
          <a:p>
            <a:pPr indent="0" lvl="0" marL="457200" rtl="0" algn="l">
              <a:lnSpc>
                <a:spcPct val="100000"/>
              </a:lnSpc>
              <a:spcBef>
                <a:spcPts val="0"/>
              </a:spcBef>
              <a:spcAft>
                <a:spcPts val="0"/>
              </a:spcAft>
              <a:buClr>
                <a:schemeClr val="dk1"/>
              </a:buClr>
              <a:buSzPts val="1100"/>
              <a:buFont typeface="Arial"/>
              <a:buNone/>
            </a:pPr>
            <a:r>
              <a:rPr lang="en-IN" sz="1900"/>
              <a:t>XOR gates</a:t>
            </a:r>
            <a:endParaRPr sz="1900"/>
          </a:p>
          <a:p>
            <a:pPr indent="0" lvl="0" marL="457200" rtl="0" algn="l">
              <a:lnSpc>
                <a:spcPct val="100000"/>
              </a:lnSpc>
              <a:spcBef>
                <a:spcPts val="0"/>
              </a:spcBef>
              <a:spcAft>
                <a:spcPts val="0"/>
              </a:spcAft>
              <a:buClr>
                <a:schemeClr val="dk1"/>
              </a:buClr>
              <a:buSzPts val="1100"/>
              <a:buFont typeface="Arial"/>
              <a:buNone/>
            </a:pPr>
            <a:r>
              <a:rPr lang="en-IN" sz="1900"/>
              <a:t>Multiplexers (MUX)</a:t>
            </a:r>
            <a:endParaRPr sz="1900"/>
          </a:p>
          <a:p>
            <a:pPr indent="0" lvl="0" marL="457200" rtl="0" algn="l">
              <a:lnSpc>
                <a:spcPct val="100000"/>
              </a:lnSpc>
              <a:spcBef>
                <a:spcPts val="0"/>
              </a:spcBef>
              <a:spcAft>
                <a:spcPts val="0"/>
              </a:spcAft>
              <a:buClr>
                <a:schemeClr val="dk1"/>
              </a:buClr>
              <a:buSzPts val="1100"/>
              <a:buFont typeface="Arial"/>
              <a:buNone/>
            </a:pPr>
            <a:r>
              <a:rPr lang="en-IN" sz="1900"/>
              <a:t>Carry Save Adders (CSA units)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3e10f7ea367_0_1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IN"/>
              <a:t>Main formula</a:t>
            </a:r>
            <a:endParaRPr/>
          </a:p>
        </p:txBody>
      </p:sp>
      <p:pic>
        <p:nvPicPr>
          <p:cNvPr id="137" name="Google Shape;137;g3e10f7ea367_0_16"/>
          <p:cNvPicPr preferRelativeResize="0"/>
          <p:nvPr/>
        </p:nvPicPr>
        <p:blipFill rotWithShape="1">
          <a:blip r:embed="rId3">
            <a:alphaModFix/>
          </a:blip>
          <a:srcRect b="0" l="0" r="0" t="10161"/>
          <a:stretch/>
        </p:blipFill>
        <p:spPr>
          <a:xfrm>
            <a:off x="1322300" y="1948648"/>
            <a:ext cx="8960350" cy="3909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5"/>
          <p:cNvSpPr txBox="1"/>
          <p:nvPr>
            <p:ph type="title"/>
          </p:nvPr>
        </p:nvSpPr>
        <p:spPr>
          <a:xfrm>
            <a:off x="238760" y="475188"/>
            <a:ext cx="10515600" cy="5697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Play"/>
              <a:buNone/>
            </a:pPr>
            <a:r>
              <a:rPr lang="en-IN"/>
              <a:t>Work Distribution</a:t>
            </a:r>
            <a:endParaRPr/>
          </a:p>
        </p:txBody>
      </p:sp>
      <p:graphicFrame>
        <p:nvGraphicFramePr>
          <p:cNvPr id="143" name="Google Shape;143;p5"/>
          <p:cNvGraphicFramePr/>
          <p:nvPr/>
        </p:nvGraphicFramePr>
        <p:xfrm>
          <a:off x="358050" y="1401500"/>
          <a:ext cx="3000000" cy="3000000"/>
        </p:xfrm>
        <a:graphic>
          <a:graphicData uri="http://schemas.openxmlformats.org/drawingml/2006/table">
            <a:tbl>
              <a:tblPr>
                <a:noFill/>
                <a:tableStyleId>{B6BA4AF4-3473-4C0F-B50B-D12182328908}</a:tableStyleId>
              </a:tblPr>
              <a:tblGrid>
                <a:gridCol w="5759700"/>
                <a:gridCol w="5759700"/>
              </a:tblGrid>
              <a:tr h="1038900">
                <a:tc>
                  <a:txBody>
                    <a:bodyPr/>
                    <a:lstStyle/>
                    <a:p>
                      <a:pPr indent="0" lvl="0" marL="0" rtl="0" algn="l">
                        <a:spcBef>
                          <a:spcPts val="0"/>
                        </a:spcBef>
                        <a:spcAft>
                          <a:spcPts val="0"/>
                        </a:spcAft>
                        <a:buNone/>
                      </a:pPr>
                      <a:r>
                        <a:rPr b="1" lang="en-IN" sz="2100"/>
                        <a:t>Name</a:t>
                      </a:r>
                      <a:endParaRPr b="1" sz="2100"/>
                    </a:p>
                  </a:txBody>
                  <a:tcPr marT="91425" marB="91425" marR="91425" marL="91425">
                    <a:solidFill>
                      <a:schemeClr val="lt2"/>
                    </a:solidFill>
                  </a:tcPr>
                </a:tc>
                <a:tc>
                  <a:txBody>
                    <a:bodyPr/>
                    <a:lstStyle/>
                    <a:p>
                      <a:pPr indent="0" lvl="0" marL="0" rtl="0" algn="l">
                        <a:spcBef>
                          <a:spcPts val="0"/>
                        </a:spcBef>
                        <a:spcAft>
                          <a:spcPts val="0"/>
                        </a:spcAft>
                        <a:buNone/>
                      </a:pPr>
                      <a:r>
                        <a:rPr b="1" lang="en-IN" sz="2100"/>
                        <a:t>Work</a:t>
                      </a:r>
                      <a:endParaRPr b="1" sz="2100"/>
                    </a:p>
                  </a:txBody>
                  <a:tcPr marT="91425" marB="91425" marR="91425" marL="91425">
                    <a:solidFill>
                      <a:schemeClr val="lt2"/>
                    </a:solidFill>
                  </a:tcPr>
                </a:tc>
              </a:tr>
              <a:tr h="999075">
                <a:tc>
                  <a:txBody>
                    <a:bodyPr/>
                    <a:lstStyle/>
                    <a:p>
                      <a:pPr indent="0" lvl="0" marL="0" rtl="0" algn="l">
                        <a:spcBef>
                          <a:spcPts val="0"/>
                        </a:spcBef>
                        <a:spcAft>
                          <a:spcPts val="0"/>
                        </a:spcAft>
                        <a:buNone/>
                      </a:pPr>
                      <a:r>
                        <a:rPr lang="en-IN" sz="2100"/>
                        <a:t>Hemanth Medu</a:t>
                      </a:r>
                      <a:endParaRPr sz="2100"/>
                    </a:p>
                  </a:txBody>
                  <a:tcPr marT="91425" marB="91425" marR="91425" marL="91425"/>
                </a:tc>
                <a:tc>
                  <a:txBody>
                    <a:bodyPr/>
                    <a:lstStyle/>
                    <a:p>
                      <a:pPr indent="0" lvl="0" marL="0" rtl="0" algn="l">
                        <a:spcBef>
                          <a:spcPts val="0"/>
                        </a:spcBef>
                        <a:spcAft>
                          <a:spcPts val="0"/>
                        </a:spcAft>
                        <a:buNone/>
                      </a:pPr>
                      <a:r>
                        <a:rPr lang="en-IN" sz="2100"/>
                        <a:t>2 research papers, research gaps,design justification,introduction ,architecture diagram </a:t>
                      </a:r>
                      <a:endParaRPr sz="2100"/>
                    </a:p>
                  </a:txBody>
                  <a:tcPr marT="91425" marB="91425" marR="91425" marL="91425"/>
                </a:tc>
              </a:tr>
              <a:tr h="999075">
                <a:tc>
                  <a:txBody>
                    <a:bodyPr/>
                    <a:lstStyle/>
                    <a:p>
                      <a:pPr indent="0" lvl="0" marL="0" rtl="0" algn="l">
                        <a:spcBef>
                          <a:spcPts val="0"/>
                        </a:spcBef>
                        <a:spcAft>
                          <a:spcPts val="0"/>
                        </a:spcAft>
                        <a:buNone/>
                      </a:pPr>
                      <a:r>
                        <a:rPr lang="en-IN" sz="2100"/>
                        <a:t>Ethan Ranger</a:t>
                      </a:r>
                      <a:endParaRPr sz="2100"/>
                    </a:p>
                  </a:txBody>
                  <a:tcPr marT="91425" marB="91425" marR="91425" marL="91425"/>
                </a:tc>
                <a:tc>
                  <a:txBody>
                    <a:bodyPr/>
                    <a:lstStyle/>
                    <a:p>
                      <a:pPr indent="0" lvl="0" marL="0" rtl="0" algn="l">
                        <a:spcBef>
                          <a:spcPts val="0"/>
                        </a:spcBef>
                        <a:spcAft>
                          <a:spcPts val="0"/>
                        </a:spcAft>
                        <a:buNone/>
                      </a:pPr>
                      <a:r>
                        <a:rPr lang="en-IN" sz="2100">
                          <a:solidFill>
                            <a:schemeClr val="dk1"/>
                          </a:solidFill>
                        </a:rPr>
                        <a:t>2 research papers , comparison analysis,review of existing work,objectives,</a:t>
                      </a:r>
                      <a:endParaRPr sz="2100">
                        <a:solidFill>
                          <a:schemeClr val="dk1"/>
                        </a:solidFill>
                      </a:endParaRPr>
                    </a:p>
                    <a:p>
                      <a:pPr indent="0" lvl="0" marL="0" rtl="0" algn="l">
                        <a:spcBef>
                          <a:spcPts val="0"/>
                        </a:spcBef>
                        <a:spcAft>
                          <a:spcPts val="0"/>
                        </a:spcAft>
                        <a:buClr>
                          <a:schemeClr val="dk1"/>
                        </a:buClr>
                        <a:buSzPts val="1100"/>
                        <a:buFont typeface="Arial"/>
                        <a:buNone/>
                      </a:pPr>
                      <a:r>
                        <a:rPr lang="en-IN" sz="2100">
                          <a:solidFill>
                            <a:schemeClr val="dk1"/>
                          </a:solidFill>
                        </a:rPr>
                        <a:t>Block diagram</a:t>
                      </a:r>
                      <a:endParaRPr sz="2100">
                        <a:solidFill>
                          <a:schemeClr val="dk1"/>
                        </a:solidFill>
                      </a:endParaRPr>
                    </a:p>
                  </a:txBody>
                  <a:tcPr marT="91425" marB="91425" marR="91425" marL="91425"/>
                </a:tc>
              </a:tr>
              <a:tr h="999075">
                <a:tc>
                  <a:txBody>
                    <a:bodyPr/>
                    <a:lstStyle/>
                    <a:p>
                      <a:pPr indent="0" lvl="0" marL="0" rtl="0" algn="l">
                        <a:spcBef>
                          <a:spcPts val="0"/>
                        </a:spcBef>
                        <a:spcAft>
                          <a:spcPts val="0"/>
                        </a:spcAft>
                        <a:buNone/>
                      </a:pPr>
                      <a:r>
                        <a:rPr lang="en-IN" sz="2100"/>
                        <a:t>Dhathri PG</a:t>
                      </a:r>
                      <a:endParaRPr sz="21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IN" sz="2100">
                          <a:solidFill>
                            <a:schemeClr val="dk1"/>
                          </a:solidFill>
                        </a:rPr>
                        <a:t>2 research papers,leaf cells and simulation,block diagram (ppt)</a:t>
                      </a:r>
                      <a:endParaRPr sz="2100"/>
                    </a:p>
                  </a:txBody>
                  <a:tcPr marT="91425" marB="91425" marR="91425" marL="91425"/>
                </a:tc>
              </a:tr>
              <a:tr h="999075">
                <a:tc>
                  <a:txBody>
                    <a:bodyPr/>
                    <a:lstStyle/>
                    <a:p>
                      <a:pPr indent="0" lvl="0" marL="0" rtl="0" algn="l">
                        <a:spcBef>
                          <a:spcPts val="0"/>
                        </a:spcBef>
                        <a:spcAft>
                          <a:spcPts val="0"/>
                        </a:spcAft>
                        <a:buNone/>
                      </a:pPr>
                      <a:r>
                        <a:rPr lang="en-IN" sz="2100"/>
                        <a:t>Deeksha K</a:t>
                      </a:r>
                      <a:endParaRPr sz="21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IN" sz="2100">
                          <a:solidFill>
                            <a:schemeClr val="dk1"/>
                          </a:solidFill>
                        </a:rPr>
                        <a:t>2 research papers,finding leaf cells and simulation, architecture diagram(ppt)</a:t>
                      </a:r>
                      <a:endParaRPr sz="2100"/>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0dbe920a1_0_14"/>
          <p:cNvSpPr txBox="1"/>
          <p:nvPr>
            <p:ph type="title"/>
          </p:nvPr>
        </p:nvSpPr>
        <p:spPr>
          <a:xfrm>
            <a:off x="391840" y="345259"/>
            <a:ext cx="10515600" cy="5697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Play"/>
              <a:buNone/>
            </a:pPr>
            <a:r>
              <a:rPr lang="en-IN"/>
              <a:t>References</a:t>
            </a:r>
            <a:endParaRPr/>
          </a:p>
        </p:txBody>
      </p:sp>
      <p:sp>
        <p:nvSpPr>
          <p:cNvPr id="149" name="Google Shape;149;g3e0dbe920a1_0_14"/>
          <p:cNvSpPr/>
          <p:nvPr/>
        </p:nvSpPr>
        <p:spPr>
          <a:xfrm>
            <a:off x="414750" y="1185300"/>
            <a:ext cx="11362500" cy="51876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l">
              <a:spcBef>
                <a:spcPts val="1200"/>
              </a:spcBef>
              <a:spcAft>
                <a:spcPts val="0"/>
              </a:spcAft>
              <a:buNone/>
            </a:pPr>
            <a:r>
              <a:rPr lang="en-IN" sz="1600">
                <a:solidFill>
                  <a:schemeClr val="dk1"/>
                </a:solidFill>
              </a:rPr>
              <a:t>[1] P. C. Bhaskar and M. D. Uplane, "FPGA Based Digital FIR Multilevel Filtering For ECG Denoising," in Proc. 2015 International Conference on Information Processing (ICIP), Vishwakarma Institute of Technology, Pune,India, Dec. 16–19, 2015, pp. 733–738.</a:t>
            </a:r>
            <a:endParaRPr sz="1600">
              <a:solidFill>
                <a:schemeClr val="dk1"/>
              </a:solidFill>
            </a:endParaRPr>
          </a:p>
          <a:p>
            <a:pPr indent="0" lvl="0" marL="0" rtl="0" algn="l">
              <a:spcBef>
                <a:spcPts val="1200"/>
              </a:spcBef>
              <a:spcAft>
                <a:spcPts val="0"/>
              </a:spcAft>
              <a:buClr>
                <a:schemeClr val="dk1"/>
              </a:buClr>
              <a:buSzPts val="1100"/>
              <a:buFont typeface="Arial"/>
              <a:buNone/>
            </a:pPr>
            <a:r>
              <a:rPr lang="en-IN" sz="1600">
                <a:solidFill>
                  <a:schemeClr val="dk1"/>
                </a:solidFill>
              </a:rPr>
              <a:t>[2] M. Prabhavathy and S. M. Sakthivel, "VLSI Implementation of CSD Based Efficient FIR Filter for ECG Signal Denoising," in Proc. 2024 IEEE 4th International Conference on VLSI Systems, Architecture, Technology and Applications (VLSI SATA), 2024, doi:0.1109/VLSISATA61709.2024.10560274.</a:t>
            </a:r>
            <a:endParaRPr sz="1600">
              <a:solidFill>
                <a:schemeClr val="dk1"/>
              </a:solidFill>
            </a:endParaRPr>
          </a:p>
          <a:p>
            <a:pPr indent="0" lvl="0" marL="0" rtl="0" algn="l">
              <a:spcBef>
                <a:spcPts val="1200"/>
              </a:spcBef>
              <a:spcAft>
                <a:spcPts val="0"/>
              </a:spcAft>
              <a:buNone/>
            </a:pPr>
            <a:r>
              <a:rPr lang="en-IN" sz="1600">
                <a:solidFill>
                  <a:schemeClr val="dk1"/>
                </a:solidFill>
              </a:rPr>
              <a:t>[3] B. Sriram, A. V. Thanvi, B. V. V. Reddy, and V. B. K. L. Aruna,”Strategic Reduction of Area and Power in FIR Filter Architecture for ECG Signal Acquisition," in Proc. 2025 14th International Conference on System Modeling &amp; Advancement in Research Trends (SMART), Teerthanker Mahaveer University, Moradabad, India, Nov. 14–15, 2025, pp. 574–578,doi: 10.1109/SMART66937.2025.11389312.</a:t>
            </a:r>
            <a:endParaRPr sz="1600">
              <a:solidFill>
                <a:schemeClr val="dk1"/>
              </a:solidFill>
            </a:endParaRPr>
          </a:p>
          <a:p>
            <a:pPr indent="0" lvl="0" marL="0" rtl="0" algn="l">
              <a:spcBef>
                <a:spcPts val="1200"/>
              </a:spcBef>
              <a:spcAft>
                <a:spcPts val="0"/>
              </a:spcAft>
              <a:buClr>
                <a:schemeClr val="dk1"/>
              </a:buClr>
              <a:buSzPts val="1100"/>
              <a:buFont typeface="Arial"/>
              <a:buNone/>
            </a:pPr>
            <a:r>
              <a:rPr lang="en-IN" sz="1600">
                <a:solidFill>
                  <a:schemeClr val="dk1"/>
                </a:solidFill>
              </a:rPr>
              <a:t>[4] R. Rasu, P. Shanmuga Sundaram, and N. Santhiyakumari, "FPGABased Non-Invasive Heart Rate Monitoring System for Detecting Abnormalities in Fetal," in Proc. 2015 International Conference on Space Science and Communication (SPACES), K L University, 2015, pp. 375–379.</a:t>
            </a:r>
            <a:endParaRPr sz="1600">
              <a:solidFill>
                <a:schemeClr val="dk1"/>
              </a:solidFill>
            </a:endParaRPr>
          </a:p>
          <a:p>
            <a:pPr indent="0" lvl="0" marL="0" rtl="0" algn="l">
              <a:spcBef>
                <a:spcPts val="1200"/>
              </a:spcBef>
              <a:spcAft>
                <a:spcPts val="0"/>
              </a:spcAft>
              <a:buNone/>
            </a:pPr>
            <a:r>
              <a:rPr lang="en-IN" sz="1600">
                <a:solidFill>
                  <a:schemeClr val="dk1"/>
                </a:solidFill>
              </a:rPr>
              <a:t>[5] L. Nian-qiang, H. Si-Yu, and C. Shi-Yao, "Application of Distributed FIRFilter Based on FPGA in the Analyzing of ECG Signal," in Proc. 2010International Conference on Intelligent System Design and EngineeringApplication (ISDEA), 2010, pp. 335–338, doi: 10.1109/ISDEA.2010.265.</a:t>
            </a:r>
            <a:endParaRPr sz="1600">
              <a:solidFill>
                <a:schemeClr val="dk1"/>
              </a:solidFill>
            </a:endParaRPr>
          </a:p>
          <a:p>
            <a:pPr indent="0" lvl="0" marL="0" rtl="0" algn="l">
              <a:spcBef>
                <a:spcPts val="1200"/>
              </a:spcBef>
              <a:spcAft>
                <a:spcPts val="0"/>
              </a:spcAft>
              <a:buNone/>
            </a:pPr>
            <a:r>
              <a:t/>
            </a:r>
            <a:endParaRPr sz="16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g3e0dbe920a1_0_10"/>
          <p:cNvSpPr txBox="1"/>
          <p:nvPr/>
        </p:nvSpPr>
        <p:spPr>
          <a:xfrm>
            <a:off x="162400" y="165300"/>
            <a:ext cx="11831100" cy="6626100"/>
          </a:xfrm>
          <a:prstGeom prst="rect">
            <a:avLst/>
          </a:prstGeom>
          <a:noFill/>
          <a:ln>
            <a:noFill/>
          </a:ln>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IN" sz="1600">
                <a:solidFill>
                  <a:schemeClr val="dk1"/>
                </a:solidFill>
              </a:rPr>
              <a:t>[6] B. Singh, R. Mehra, and Chandni, "Reconfigurable FIR Filter for Denoising of ECG Signal," in Proc. 2016 IEEE International Conference, NITTTR Chandigarh, India, 2016.</a:t>
            </a:r>
            <a:endParaRPr sz="1600">
              <a:solidFill>
                <a:schemeClr val="dk1"/>
              </a:solidFill>
            </a:endParaRPr>
          </a:p>
          <a:p>
            <a:pPr indent="0" lvl="0" marL="0" rtl="0" algn="l">
              <a:spcBef>
                <a:spcPts val="1200"/>
              </a:spcBef>
              <a:spcAft>
                <a:spcPts val="0"/>
              </a:spcAft>
              <a:buClr>
                <a:schemeClr val="dk1"/>
              </a:buClr>
              <a:buSzPts val="1100"/>
              <a:buFont typeface="Arial"/>
              <a:buNone/>
            </a:pPr>
            <a:r>
              <a:rPr lang="en-IN" sz="1600">
                <a:solidFill>
                  <a:schemeClr val="dk1"/>
                </a:solidFill>
              </a:rPr>
              <a:t>[7] S. Sumathi, A. Balaji Ganesh, S. Umakumari, H. Priyadharshini, and S.Srimathi, "Arrhythmia Detection and ECG Signal Analysis using Digital Filtering Techniques," in Proc. 7th International Conference on Communication and Electronics Systems (ICCES 2022), 2022, pp. 6–11,doi: 10.1109/ICCES54183.2022.9835793.</a:t>
            </a:r>
            <a:endParaRPr sz="1600">
              <a:solidFill>
                <a:schemeClr val="dk1"/>
              </a:solidFill>
            </a:endParaRPr>
          </a:p>
          <a:p>
            <a:pPr indent="0" lvl="0" marL="0" rtl="0" algn="l">
              <a:spcBef>
                <a:spcPts val="1200"/>
              </a:spcBef>
              <a:spcAft>
                <a:spcPts val="0"/>
              </a:spcAft>
              <a:buClr>
                <a:schemeClr val="dk1"/>
              </a:buClr>
              <a:buSzPts val="1100"/>
              <a:buFont typeface="Arial"/>
              <a:buNone/>
            </a:pPr>
            <a:r>
              <a:rPr lang="en-IN" sz="1600">
                <a:solidFill>
                  <a:schemeClr val="dk1"/>
                </a:solidFill>
              </a:rPr>
              <a:t>[8] T. Singh, P. Agarwal, and V. K. Pandey, "ECG Baseline Noise Removal Techniques Using Window Based FIR Filters," in Proc. 2014 International Conference on Medical Imaging, m-Health and Emerging Communication Systems (MedCom), Greater Noida, India, 2014, pp. 131–136.</a:t>
            </a:r>
            <a:endParaRPr sz="1600">
              <a:solidFill>
                <a:schemeClr val="dk1"/>
              </a:solidFill>
            </a:endParaRPr>
          </a:p>
          <a:p>
            <a:pPr indent="0" lvl="0" marL="0" rtl="0" algn="l">
              <a:spcBef>
                <a:spcPts val="120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None/>
            </a:pPr>
            <a:r>
              <a:rPr b="1" lang="en-IN" sz="2000">
                <a:solidFill>
                  <a:schemeClr val="dk1"/>
                </a:solidFill>
              </a:rPr>
              <a:t>Github:</a:t>
            </a:r>
            <a:r>
              <a:rPr lang="en-IN" sz="2000">
                <a:solidFill>
                  <a:schemeClr val="dk1"/>
                </a:solidFill>
              </a:rPr>
              <a:t> </a:t>
            </a:r>
            <a:r>
              <a:rPr lang="en-IN" sz="2000" u="sng">
                <a:solidFill>
                  <a:schemeClr val="hlink"/>
                </a:solidFill>
                <a:hlinkClick r:id="rId3"/>
              </a:rPr>
              <a:t>https://github.com/hemanthmedu/FIR-based-FPGA-Filters-.git</a:t>
            </a:r>
            <a:endParaRPr sz="20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id="159" name="Google Shape;159;g3e11958f71e_2_1"/>
          <p:cNvPicPr preferRelativeResize="0"/>
          <p:nvPr/>
        </p:nvPicPr>
        <p:blipFill>
          <a:blip r:embed="rId3">
            <a:alphaModFix/>
          </a:blip>
          <a:stretch>
            <a:fillRect/>
          </a:stretch>
        </p:blipFill>
        <p:spPr>
          <a:xfrm>
            <a:off x="0" y="640438"/>
            <a:ext cx="12192001" cy="5577124"/>
          </a:xfrm>
          <a:prstGeom prst="rect">
            <a:avLst/>
          </a:prstGeom>
          <a:noFill/>
          <a:ln>
            <a:noFill/>
          </a:ln>
        </p:spPr>
      </p:pic>
      <p:sp>
        <p:nvSpPr>
          <p:cNvPr id="160" name="Google Shape;160;g3e11958f71e_2_1"/>
          <p:cNvSpPr txBox="1"/>
          <p:nvPr/>
        </p:nvSpPr>
        <p:spPr>
          <a:xfrm>
            <a:off x="199900" y="157575"/>
            <a:ext cx="11171400" cy="43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IN" sz="2800">
                <a:solidFill>
                  <a:schemeClr val="dk1"/>
                </a:solidFill>
              </a:rPr>
              <a:t>Github repository details</a:t>
            </a:r>
            <a:endParaRPr sz="28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2025-10-21T03:29:52Z</dcterms:created>
  <dc:creator>Binu K G</dc:creator>
</cp:coreProperties>
</file>